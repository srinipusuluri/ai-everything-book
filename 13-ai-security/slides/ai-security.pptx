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boundary framing. Every later slide is a variation on 'there is no compiler-enforced line here, only learned bias.'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 is the first edition to weight real incident data (25%) alongside community vote (75%). Excessive Agency jumped from #6 to #3 on that incident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LLM08 was 'System Prompt Leakage' in 2025 -- renamed and widened because tool schemas and policies leak too. Improper Output Handling fell from #5 to #10 as teams got better at basic sanitization.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Indirect injection is the one that matters operationally. A poisoned webpage, resume, or MCP tool result addressed to the model, not the human reading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this line out loud: a vendor selling a prompt-injection classifier as 'solved' is selling you the pre-2010s antivirus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spine of notes/01 section 5.5. No single row is enough alone -- that is the entire argument for defense-in-depth.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staircase: X X X -&gt; . X X -&gt; . . X -&gt; . . . Each layer closes exactly one gap, never all of them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here. This is the single highest-leverage idea in the module -- everything after this slide is either detecting it or removing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 two 'fine alone' examples from notes/02: an open-web research agent, and a customer reading their own balance. Neither is a trifecta.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every node in an architecture diagram -- agent, subgraph, or single LLM call with a bound tool list -- and ask these three. All three yes on one node is the flag.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notes/02 section 2 orders these deliberately -- split first because it needs no ongoing vigilance, gating second, removal last because it changes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code/lethal_trifecta_analyzer.py. The v1/v2 pair differs by ONE boolean -- human_approval_required on send_email -- and that alone flips the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LLM03 in the 2026 list, up from #6 in 2025 -- driven by real incident data as agentic systems with real tool access shipped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root cause as injection -- manipulating context, not exploiting a code bug. That is why these are red-team knowledge, not a patchable CVE.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RAG line is the most common real-world instance: the vector index's ACLs lag the source system's. Fix is filtering at query time, never a polite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Guardrails are the safety net under an architecture that should already be sound -- not a substitute for privilege separation upstream.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deliverable is an adversarial prompt library, automated plus human red-teaming, and a scored report mapped back to OWASP categories -- not just a pile of transcripts.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honest note from notes/01 section 4: if you cannot write the sentence naming what still gets through your stack, you have a hope, not a threat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MODULE 13</a:t>
            </a:r>
          </a:p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AI Security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8EAF2"/>
                </a:solidFill>
                <a:latin typeface="Calibri"/>
              </a:rPr>
              <a:t>Prompt injection has no prepared-statement fix -- build layers, not proofs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46EF"/>
                </a:solidFill>
                <a:latin typeface="Calibri"/>
              </a:rPr>
              <a:t>AI End-to-End Learning Track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4"/>
                </a:solidFill>
                <a:latin typeface="Calibri"/>
              </a:rPr>
              <a:t>Notes · Code · Labs · Papers — see the module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Why AI security is a different discipline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D946EF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Classical appsec separates code (trusted) from data (untrusted)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D946EF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SQL injection, XSS: fixed by re-establishing that boundary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D946EF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An LLM has ONE input channel: system prompt + history + tool results + user text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D946EF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No PREPARE, no escaping function, no 'this is data not instruction' tag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D946EF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Defenses reduce risk probabilistically -- they do not restore a boundary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D946EF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OWASP ranks prompt injection #1 for exactly this reason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OWASP Top 10 for LLM Apps, 2026 (1 of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2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anchor="ctr">
                    <a:solidFill>
                      <a:srgbClr val="D94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>
                    <a:solidFill>
                      <a:srgbClr val="D94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 one line</a:t>
                      </a:r>
                    </a:p>
                  </a:txBody>
                  <a:tcPr anchor="ctr">
                    <a:solidFill>
                      <a:srgbClr val="D946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LLM01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Prompt Injection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Attacker input overrides or leaks given instructions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LLM02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Sensitive Info Disclosure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Output or context exposes private/credential data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LLM03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Excessive Agency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System grants more tools/autonomy than the task needs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LLM04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Supply Chain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Compromised weight, dataset, fine-tune, or dependency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LLM05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Data and Model Poisoning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Training or fine-tuning data implants bad behavior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OWASP Top 10 for LLM Apps, 2026 (2 of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3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anchor="ctr">
                    <a:solidFill>
                      <a:srgbClr val="D94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>
                    <a:solidFill>
                      <a:srgbClr val="D94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 one line</a:t>
                      </a:r>
                    </a:p>
                  </a:txBody>
                  <a:tcPr anchor="ctr">
                    <a:solidFill>
                      <a:srgbClr val="D946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LLM06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Unbounded Consumption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Uncontrolled cost, DoS, or extraction via volume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LLM07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Misinformation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Model states false claims with unwarranted confidence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LLM08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Hidden Context Exposure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Prompt, tool schemas, and policy text get extracted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LLM09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Vector and Embedding Weaknesses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Retrieval leaks, poisons, or mis-ranks via embeddings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LLM10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Improper Output Handling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Output passed to shell/SQL/renderer unvalidated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Direct vs. indirect prompt injection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4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D946EF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Direct: the user IS the attacker -- types the jailbreak straight in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46EF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Indirect: attacker plants payload in content the model reads later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46EF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Victim is the trusted user, not the attacker -- they never see the attack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46EF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Scales asynchronously: plant once, wait for any agent to read it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46EF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Composes with tool access -- this is what makes it dangerous in production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Why it's structurally hard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5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next_token = f(system_prompt + history + tool_results + user_input)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D946EF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Every span of that concatenation is the same kind of token to the model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D946EF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Instruction-tuning gives a LEARNED BIAS toward certain framings, not a rule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D946EF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 well-crafted injected string can still shift that probability distribution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D946EF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Treat every defense as lowering success rate, never as a categorical fix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Defense-in-depth: what each layer catches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6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>
                    <a:solidFill>
                      <a:srgbClr val="D94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Stops</a:t>
                      </a:r>
                    </a:p>
                  </a:txBody>
                  <a:tcPr anchor="ctr">
                    <a:solidFill>
                      <a:srgbClr val="D94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Does not stop</a:t>
                      </a:r>
                    </a:p>
                  </a:txBody>
                  <a:tcPr anchor="ctr">
                    <a:solidFill>
                      <a:srgbClr val="D946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Delimiting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Naive injections blending into the stream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Rhetorical arguing past the boundary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Input classifier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Known phrasings, known templates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Novel phrasing, encoding tricks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Privilege separation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The exfiltration step itself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Only for the tool boundary you drew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Output filtering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Blind execution of model output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The model being manipulated on content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Human approval gate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An action firing unseen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Approval fatigue, rubber-stamping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Demo: watching a pipeline fall for it, then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D946EF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Fake, deterministic model -- reproducible, no API key, offline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D946EF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Undefended: naive, sophisticated, and novel injections ALL exfiltrate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D946EF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+ Delimiting: naive fails, but an authority claim argues past the tag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D946EF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+ Keyword classifier: catches known phrasings, novel wording sails through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D946EF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+ Privilege separation: send_email unreachable -- every variant blocked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D946EF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code/prompt_injection_defense_demo.py -- run it, read the honest caveat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The Lethal Trifecta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Untrusted input + sensitive data + external comms, one agent, no gate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Three legs, danger is in the conjunction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9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D946EF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Untrusted input: web pages, email, tickets, third-party tool results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46EF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Sensitive data access: credentials, PII, internal docs, a database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46EF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External communication: send email, post to a URL, call another API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46EF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Any ONE leg alone is fine -- a research agent reading the open web is safe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46EF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All three, one reachable context, no gate: the attacker's payload ships your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Spotting it: the three-question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10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D94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anchor="ctr">
                    <a:solidFill>
                      <a:srgbClr val="D94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Yes means</a:t>
                      </a:r>
                    </a:p>
                  </a:txBody>
                  <a:tcPr anchor="ctr">
                    <a:solidFill>
                      <a:srgbClr val="D946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Does this node ingest content you don't fully control?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untrusted input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Does it hold a credential reaching confidential data?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sensitive data access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Can it act externally without human approval first?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ungated communication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Fixing it: three moves, in order of preference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11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D946EF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1. Split: untrusted-reading agent emits a narrow schema, not free text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46EF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2. Gate: human approval before the communication/write action fires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46EF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3. Remove: does the agent really need to POST, or just draft for a human?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46EF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Splitting removes the attack surface; gating converts action to accountability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46EF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Removing agency is usually a discovery, not a downgrade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Analyzer results: 7 declared agent configs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12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anchor="ctr">
                    <a:solidFill>
                      <a:srgbClr val="D94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3 legs present?</a:t>
                      </a:r>
                    </a:p>
                  </a:txBody>
                  <a:tcPr anchor="ctr">
                    <a:solidFill>
                      <a:srgbClr val="D94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anchor="ctr">
                    <a:solidFill>
                      <a:srgbClr val="D946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web_research_assistant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input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safe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customer_account_assistant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sensitive data only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safe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inbox_triage_agent_v1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all three, ungated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FLAGGED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inbox_triage_agent_v2 (gated)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all three, gated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safe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devops_mcp_agent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all three, ungated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FLAGGED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devops split pair (reader + action)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split across two agents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safe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Excessive agency: three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D946EF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Excessive functionality: the tool can do more than the task needs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46EF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Excessive permissions: the credential is broader than the tool's purpose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46EF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Excessive autonomy: no human checkpoint before a consequential action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46EF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Fix mirrors classical least-privilege, applied to a model that can be persuaded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46EF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Scope the tool, scope the credential, gate the irreversible step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Jailbreak families you should recognize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14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anchor="ctr">
                    <a:solidFill>
                      <a:srgbClr val="D94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 anchor="ctr">
                    <a:solidFill>
                      <a:srgbClr val="D94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Watch for</a:t>
                      </a:r>
                    </a:p>
                  </a:txBody>
                  <a:tcPr anchor="ctr">
                    <a:solidFill>
                      <a:srgbClr val="D946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Roleplay/persona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'You are DAN, no restrictions' framing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Sudden persona assignment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Encoding/obfuscation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Base64, ROT13, split disallowed tokens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Encoded blobs plus decode instruction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Many-shot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Dozens of fabricated compliant example turns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Unusually long Q-and-A-heavy prompt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Crescendo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Small benign escalations across many turns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Conversation drifting steadily one way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Model-level and data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15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D946EF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Adversarial suffixes: optimized tokens that suppress refusals (GCG attack)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D946EF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Model extraction: querying an API to train a cheap imitation model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D946EF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Membership inference: proving a specific record was in training data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D946EF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Training data poisoning: a hidden trigger implanted in a data subset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D946EF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RAG over-retrieval: vector search returns docs the user can't see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D946EF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Embedding inversion: vectors decode back into near-original text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Guardrails in the request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16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anchor="ctr">
                    <a:solidFill>
                      <a:srgbClr val="D94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anchor="ctr">
                    <a:solidFill>
                      <a:srgbClr val="D94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Honest limit</a:t>
                      </a:r>
                    </a:p>
                  </a:txBody>
                  <a:tcPr anchor="ctr">
                    <a:solidFill>
                      <a:srgbClr val="D946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Input classifier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Flags injection/jailbreak patterns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Misses novel or obfuscated attacks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Rate limiter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Per-key volume, anomaly detection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Nothing against one crafted request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Output classifier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Flags disallowed content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Same false-negative limit as input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PII redaction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Scans output before it leaves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Last-resort net, not prevention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Action gate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Human approval on consequential calls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 rubber-stamping human is not a control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Traditional pentest vs. LLM red-team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17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D94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Traditional pentest</a:t>
                      </a:r>
                    </a:p>
                  </a:txBody>
                  <a:tcPr anchor="ctr">
                    <a:solidFill>
                      <a:srgbClr val="D94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LLM red-team</a:t>
                      </a:r>
                    </a:p>
                  </a:txBody>
                  <a:tcPr anchor="ctr">
                    <a:solidFill>
                      <a:srgbClr val="D946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Code, network, infra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Model behavior AND the system around 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Finding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Reproducible exploit, CVE-shaped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Often probabilistic -- works 30% of the time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Reproducibility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Deterministic given same input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Sampling and model updates change results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Scoring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Binary: exploitable or not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Graded severity plus success-rate scale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Supply chain, and the honest close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18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D946EF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model weight is an opaque binary you're choosing to execute -- verify provenance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46EF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compromised MCP server is a compromised dependency wearing a new hat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46EF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safetensors exists because pickle checkpoints can carry arbitrary code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46EF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Every layer in this module lowers success probability, none proves safety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D946EF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Exit check: name which layer catches which attack, and what still gets through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Now go build.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code/ — run it   ·   lab/EXERCISES.md — break it   ·   papers/ — go deeper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946EF"/>
                </a:solidFill>
                <a:latin typeface="Calibri"/>
              </a:rPr>
              <a:t>AI End-to-End Learning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