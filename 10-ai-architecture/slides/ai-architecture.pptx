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this diagram on a whiteboard from notes/01 section 2. Spend real time here -- everything else in the deck hangs off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simulator live: cost-tiering alone typically shows 60-70% cost reduction while ALSO improving success rate during a simulated outage.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code/semantic_cache_correctness.py demonstrates the wrong-answer case numerically, then fixes it with an entity/number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bridge to Module 12's governance requirement for auditability and Module 16's LangSmith prompt versioning.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leave up while people do lab exercise 1 -- drawing their own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MODULE 10</a:t>
            </a:r>
          </a:p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Architecture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E8EAF2"/>
                </a:solidFill>
                <a:latin typeface="Calibri"/>
              </a:rPr>
              <a:t>Combining Modules 01-09 into a production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97316"/>
                </a:solidFill>
                <a:latin typeface="Calibri"/>
              </a:rPr>
              <a:t>AI End-to-End Learning Track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6B7284"/>
                </a:solidFill>
                <a:latin typeface="Calibri"/>
              </a:rPr>
              <a:t>Notes · Code · Labs · Papers — see the module README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Architecture is a separate skill from model literacy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Knowing how a transformer works does not tell you where the cache goes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This module assumes 01-09 and asks: how do these pieces become ONE system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layer boundary is a place bugs hide and costs leak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goal: a system a new engineer can reason about from the diagram alone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layered 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Client -&gt; API Gateway/BFF -&gt; Orchestration -&gt; Model layer &lt;-&gt; Tool/Retrieval -&gt; Data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Observability is NOT a box -- it is horizontal, touching every layer from day 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gateway is the FIRST prompt-injection surface (Module 13)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orchestration layer owns planning, checkpointing, human-in-the-loop, retries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What leaks when a layer is done badly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3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 skipped/weak</a:t>
                      </a:r>
                    </a:p>
                  </a:txBody>
                  <a:tcPr anchor="ctr"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leaks</a:t>
                      </a:r>
                    </a:p>
                  </a:txBody>
                  <a:tcPr anchor="ctr">
                    <a:solidFill>
                      <a:srgbClr val="F973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 gateway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prompt injection reaches the model layer raw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 orchestration idempotency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a retried agent step fires a side effect twice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 model-layer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every request pays frontier prices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 data-layer freshness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RAG answers from a stale index, confidently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No observability from day 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the first incident is also the first time you look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model gateway: four wins in one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Cost-tiered routing: easy requests to a cheap model (Module 04's cost lesson, operationalized)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Automatic failover across providers when one is down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Circuit breaker: stop calling a failing provider, auto-recover after cooldown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hard budget ceiling that no code path can bypass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code/model_gateway_simulator.py measures all four against a naive single-provider baseline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Build vs. buy for the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5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10881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anchor="ctr"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Choose it when</a:t>
                      </a:r>
                    </a:p>
                  </a:txBody>
                  <a:tcPr anchor="ctr">
                    <a:solidFill>
                      <a:srgbClr val="F9731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LiteLLM (open 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 want control and no vendor lock-in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Hosted gateway (Portkey, OpenRouter)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 want it running today, ops isn't your job</a:t>
                      </a:r>
                    </a:p>
                  </a:txBody>
                  <a:tcPr anchor="ctr">
                    <a:solidFill>
                      <a:srgbClr val="F6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D29"/>
                          </a:solidFill>
                          <a:latin typeface="Calibri"/>
                        </a:rPr>
                        <a:t>Hand-rolled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D29"/>
                          </a:solidFill>
                          <a:latin typeface="Calibri"/>
                        </a:rPr>
                        <a:t>your routing logic is genuinely unique to your business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Caching is not one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Exact-match cache, semantic cache, prompt/prefix cache, and embedding cache solve different problems.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F973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Semantic cache: a real latency/cost win on true paraphrases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973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...and a real CORRECTNESS RISK on near-duplicates that differ in a load-bearing detail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973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'refund policy under $50' vs 'under $500' can collide at the wrong threshold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semantic cache fix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Tightening the similarity threshold alone trades hit rate for safety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Better: add an entity/number guard -- block a hit when queries differ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  in a number or named entity, regardless of embedding similarity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Ship a semantic cache only where you've measured BOTH sides for YOUR query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Data architecture: the RAG freshness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Ingestion pipeline: crawl/sync -&gt; clean -&gt; chunk -&gt; embed -&gt; index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hard part isn't building it once -- it's keeping the index FRESH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stale index gives confidently wrong answers, indistinguishable from a fresh one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Vector DB selection: managed vs self-hosted, hybrid search support, metadata filtering, scale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Scalability and reliability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Async/queue-based processing for long-running agent tasks -- don't block a web request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Idempotency keys for retries -- see LangGraph's re-execution trap (Module 16)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Circuit breakers and graceful degradation when a provider is down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Multi-region/multi-provider redundancy for anything customer-facing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Streaming architecture (SSE/WebSocket) at the API layer for perceived latency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A prompt change IS a deploy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10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881360" cy="155448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63500" cy="155448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14984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1">
                <a:solidFill>
                  <a:srgbClr val="1A1D29"/>
                </a:solidFill>
                <a:latin typeface="Calibri"/>
              </a:rPr>
              <a:t>Treat it like one: review, version, canary, rollback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881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
                  <a:srgbClr val="F973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Blue-green and canary deploys apply to prompts and models, not just code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973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Shadow deployment: test a new model against production traffic without serving it</a:t>
            </a:r>
          </a:p>
          <a:p>
            <a:pPr>
              <a:spcAft>
                <a:spcPts val="1100"/>
              </a:spcAft>
            </a:pPr>
            <a:r>
              <a:rPr sz="1700">
                <a:solidFill>
                  <a:srgbClr val="F97316"/>
                </a:solidFill>
                <a:latin typeface="Calibri"/>
              </a:rPr>
              <a:t>▪  </a:t>
            </a:r>
            <a:r>
              <a:rPr sz="1700">
                <a:solidFill>
                  <a:srgbClr val="1A1D29"/>
                </a:solidFill>
                <a:latin typeface="Calibri"/>
              </a:rPr>
              <a:t>The model/prompt registry pattern gives you versioning AND rollback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Security controls: where they actually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Input validation and delimiting -- at the GATEWAY, before orchestration sees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Privilege separation for tool access -- in the ORCHESTRATION layer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Output filtering/guardrails -- before the response leaves the model layer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Human approval gates -- in orchestration, for consequential actions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 single layer is sufficient. This is Module 13's theory, placed on a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Observability: instrument before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Traces, structured logs, metrics, and cost meters are ONE architecture concern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Not four tools bolted on after the first incident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Decide what to log BEFORE launch: prompt hash, model version, tokens, latency, cost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See Module 16's LangSmith track for the concrete implementation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Cost architecture: from model to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The cost model from Module 04 becomes an architecture decision: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  WHERE you put a router, WHERE you cache, WHERE you set a budget circuit breaker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A cost target is a design constraint, not a monthly surprise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Work backward from a target cost-per-request to the architecture that hits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The capstone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One complete, labeled diagram: an enterprise RAG + agent assistant with tool access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Every point above -- gateway, cache, orchestration, security, observability -- in one place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notes/02 section 6 has the full diagram and component-by-component rationale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Use this as the template when you draw your own system in the lab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7548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A1D29"/>
                </a:solidFill>
                <a:latin typeface="Calibri"/>
              </a:rPr>
              <a:t>Exit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98448"/>
            <a:ext cx="9144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>
                <a:solidFill>
                  <a:srgbClr val="6B7284"/>
                </a:solidFill>
                <a:latin typeface="Calibri"/>
              </a:rPr>
              <a:t>Module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B7284"/>
                </a:solidFill>
                <a:latin typeface="Calibri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Draw the full layered architecture for a real system you know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Run code/model_gateway_simulator.py and explain the four separate wins it produces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Break your own semantic cache, then fix it with an entity/number guard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Trace a prompt-injection attempt through your diagram and name what catches it</a:t>
            </a:r>
          </a:p>
          <a:p>
            <a:pPr>
              <a:spcAft>
                <a:spcPts val="1300"/>
              </a:spcAft>
            </a:pPr>
            <a:r>
              <a:rPr sz="2000">
                <a:solidFill>
                  <a:srgbClr val="F97316"/>
                </a:solidFill>
                <a:latin typeface="Calibri"/>
              </a:rPr>
              <a:t>▪  </a:t>
            </a:r>
            <a:r>
              <a:rPr sz="2000">
                <a:solidFill>
                  <a:srgbClr val="1A1D29"/>
                </a:solidFill>
                <a:latin typeface="Calibri"/>
              </a:rPr>
              <a:t>Next: Module 11 -- The LLM Model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4400" b="1" i="0">
                <a:solidFill>
                  <a:srgbClr val="1A1D29"/>
                </a:solidFill>
                <a:latin typeface="Calibri"/>
              </a:rPr>
              <a:t>Now go build.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6B7284"/>
                </a:solidFill>
                <a:latin typeface="Calibri"/>
              </a:rPr>
              <a:t>code/ — run it   ·   lab/EXERCISES.md — break it   ·   papers/ — go deeper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97316"/>
                </a:solidFill>
                <a:latin typeface="Calibri"/>
              </a:rPr>
              <a:t>AI End-to-End Learning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