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Set the frame: the audience can already program. We teach the idioms and the toolchain, not the syntax. Python is not the best language; it is the one with the ecosystem.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About 25 minutes. This is the part people can adopt the same afternoon.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speed is not vanity: it changes how often people run CI and how willingly they rebuild environments. Demo it live - it is under ten seconds. Lower bounds go in pyproject, exact pins in uv.lock.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Have an opinion. The worst outcome is a team where three people use three tools.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ASYNC ruleset is underrated. It catches requests.get() inside an async def, which is the number one asyncio bug in LLM codebases.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Hints are NOT enforced at runtime. embed(42) runs fine. Say this out loud - it is the single most misunderstood thing about Python typing.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one line resolves 90% of 'should I use a dataclass or a model' arguments.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evidence-before-judgement trick smuggles chain-of-thought into a schema. It is worth real accuracy on extraction tasks and costs nothing.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Switch gears. Run code/vectorization_benchmark.py live here if the room has a terminal.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Row 2 is the teaching moment. Importing numpy does not make code fast; removing the Python loop does. Row 2 is 120,000 dispatches into C, each paying fixed overhead.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OOM kill is the failure mode. Fix is chunking the outer loop, or an algebraic identity that avoids the intermediate entirely.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Ask the room who has shipped this. Hands will go up. This is the only bug on the whole list that produces no signal at all.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Run code/async_llm_client.py here. The sequential-vs-gather number lands better as a live demo.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gather returns results in ARGUMENT order, not completion order. That is why it is the right tool for batch work - prompts[i] lines up with results[i].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Jitter is the part people drop and the part that matters. Without it a blip becomes a thundering herd and then an outage.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Correct the two common errors in both directions: threads do not speed up pure Python, but they DO help around numpy because the kernel releases the GIL.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PYTHONASYNCIODEBUG=1 warns whenever a callback holds the loop over 100ms. Turn it on in development and leave it 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Ruff catches rows 1 and 6 automatically. Row 5 is why safetensors exists and why torch.load takes weights_only=True.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Your production incidents make excellent test fixtures. The clean-response test passes on day one and never catches anything again.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real check: a colleague clones it and gets a green run before their coffee cools.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3776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074920"/>
            <a:ext cx="12191695" cy="17830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400"/>
              </a:spcAft>
            </a:pPr>
            <a:r>
              <a:rPr sz="1600" b="1" i="0">
                <a:solidFill>
                  <a:srgbClr val="FFFFFF"/>
                </a:solidFill>
                <a:latin typeface="Calibri"/>
              </a:rPr>
              <a:t>MODULE 16.1</a:t>
            </a:r>
          </a:p>
          <a:p>
            <a:pPr algn="l">
              <a:spcAft>
                <a:spcPts val="1000"/>
              </a:spcAft>
            </a:pPr>
            <a:r>
              <a:rPr sz="5400" b="1" i="0">
                <a:solidFill>
                  <a:srgbClr val="FFFFFF"/>
                </a:solidFill>
                <a:latin typeface="Calibri"/>
              </a:rPr>
              <a:t>Python for AI Engineering</a:t>
            </a:r>
          </a:p>
          <a:p>
            <a:pPr algn="l">
              <a:spcAft>
                <a:spcPts val="600"/>
              </a:spcAft>
            </a:pPr>
            <a:r>
              <a:rPr sz="2000" b="0" i="0">
                <a:solidFill>
                  <a:srgbClr val="E8EAF2"/>
                </a:solidFill>
                <a:latin typeface="Calibri"/>
              </a:rPr>
              <a:t>The 20% of modern Python that every AI system is built 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5532120"/>
            <a:ext cx="105156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 i="0">
                <a:solidFill>
                  <a:srgbClr val="3776AB"/>
                </a:solidFill>
                <a:latin typeface="Calibri"/>
              </a:rPr>
              <a:t>AI End-to-End Learning Track</a:t>
            </a:r>
          </a:p>
          <a:p>
            <a:pPr algn="l">
              <a:spcAft>
                <a:spcPts val="600"/>
              </a:spcAft>
            </a:pPr>
            <a:r>
              <a:rPr sz="1200" b="0" i="0">
                <a:solidFill>
                  <a:srgbClr val="6B7284"/>
                </a:solidFill>
                <a:latin typeface="Calibri"/>
              </a:rPr>
              <a:t>Notes · Code · Labs · Papers — see the module README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3776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75488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 i="0">
                <a:solidFill>
                  <a:srgbClr val="1A1D29"/>
                </a:solidFill>
                <a:latin typeface="Calibri"/>
              </a:rPr>
              <a:t>Why this track exists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98448"/>
            <a:ext cx="914400" cy="38100"/>
          </a:xfrm>
          <a:prstGeom prst="rect">
            <a:avLst/>
          </a:prstGeom>
          <a:solidFill>
            <a:srgbClr val="3776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355080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>
                <a:solidFill>
                  <a:srgbClr val="6B7284"/>
                </a:solidFill>
                <a:latin typeface="Calibri"/>
              </a:rPr>
              <a:t>Module 16.1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07040" y="635508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>
                <a:solidFill>
                  <a:srgbClr val="6B7284"/>
                </a:solidFill>
                <a:latin typeface="Calibri"/>
              </a:rPr>
              <a:t>1 / 20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691640"/>
            <a:ext cx="10881360" cy="4480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300"/>
              </a:spcAft>
            </a:pPr>
            <a:r>
              <a:rPr sz="2000">
                <a:solidFill>
                  <a:srgbClr val="3776AB"/>
                </a:solidFill>
                <a:latin typeface="Calibri"/>
              </a:rPr>
              <a:t>▪  </a:t>
            </a:r>
            <a:r>
              <a:rPr sz="2000">
                <a:solidFill>
                  <a:srgbClr val="1A1D29"/>
                </a:solidFill>
                <a:latin typeface="Calibri"/>
              </a:rPr>
              <a:t>Every other track in Module 16 assumes you can write shippable Python</a:t>
            </a:r>
          </a:p>
          <a:p>
            <a:pPr>
              <a:spcAft>
                <a:spcPts val="1300"/>
              </a:spcAft>
            </a:pPr>
            <a:r>
              <a:rPr sz="2000">
                <a:solidFill>
                  <a:srgbClr val="3776AB"/>
                </a:solidFill>
                <a:latin typeface="Calibri"/>
              </a:rPr>
              <a:t>▪  </a:t>
            </a:r>
            <a:r>
              <a:rPr sz="2000">
                <a:solidFill>
                  <a:srgbClr val="1A1D29"/>
                </a:solidFill>
                <a:latin typeface="Calibri"/>
              </a:rPr>
              <a:t>Python won as glue over C, CUDA, Arrow and Rust kernels -- know the seams</a:t>
            </a:r>
          </a:p>
          <a:p>
            <a:pPr>
              <a:spcAft>
                <a:spcPts val="1300"/>
              </a:spcAft>
            </a:pPr>
            <a:r>
              <a:rPr sz="2000">
                <a:solidFill>
                  <a:srgbClr val="3776AB"/>
                </a:solidFill>
                <a:latin typeface="Calibri"/>
              </a:rPr>
              <a:t>▪  </a:t>
            </a:r>
            <a:r>
              <a:rPr sz="2000">
                <a:solidFill>
                  <a:srgbClr val="1A1D29"/>
                </a:solidFill>
                <a:latin typeface="Calibri"/>
              </a:rPr>
              <a:t>Not Python that runs -- Python that is typed, tested, packaged, async</a:t>
            </a:r>
          </a:p>
          <a:p>
            <a:pPr>
              <a:spcAft>
                <a:spcPts val="1300"/>
              </a:spcAft>
            </a:pPr>
            <a:r>
              <a:rPr sz="2000">
                <a:solidFill>
                  <a:srgbClr val="3776AB"/>
                </a:solidFill>
                <a:latin typeface="Calibri"/>
              </a:rPr>
              <a:t>▪  </a:t>
            </a:r>
            <a:r>
              <a:rPr sz="2000">
                <a:solidFill>
                  <a:srgbClr val="1A1D29"/>
                </a:solidFill>
                <a:latin typeface="Calibri"/>
              </a:rPr>
              <a:t>That gap is why most prototypes never become services</a:t>
            </a:r>
          </a:p>
          <a:p>
            <a:pPr>
              <a:spcAft>
                <a:spcPts val="1300"/>
              </a:spcAft>
            </a:pPr>
            <a:r>
              <a:rPr sz="2000">
                <a:solidFill>
                  <a:srgbClr val="3776AB"/>
                </a:solidFill>
                <a:latin typeface="Calibri"/>
              </a:rPr>
              <a:t>▪  </a:t>
            </a:r>
            <a:r>
              <a:rPr sz="2000">
                <a:solidFill>
                  <a:srgbClr val="1A1D29"/>
                </a:solidFill>
                <a:latin typeface="Calibri"/>
              </a:rPr>
              <a:t>This is not 'learn Python'. It is the 2026 toolchain, not the 2018 one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3776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2651760"/>
            <a:ext cx="1005840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4400" b="1" i="0">
                <a:solidFill>
                  <a:srgbClr val="1A1D29"/>
                </a:solidFill>
                <a:latin typeface="Calibri"/>
              </a:rPr>
              <a:t>Part 1 -- The toolchain</a:t>
            </a:r>
          </a:p>
          <a:p>
            <a:pPr algn="l">
              <a:spcAft>
                <a:spcPts val="600"/>
              </a:spcAft>
            </a:pPr>
            <a:r>
              <a:rPr sz="1800" b="0" i="0">
                <a:solidFill>
                  <a:srgbClr val="6B7284"/>
                </a:solidFill>
                <a:latin typeface="Calibri"/>
              </a:rPr>
              <a:t>uv, pyproject.toml, ruff, mypy, pytest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3776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75488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 i="0">
                <a:solidFill>
                  <a:srgbClr val="1A1D29"/>
                </a:solidFill>
                <a:latin typeface="Calibri"/>
              </a:rPr>
              <a:t>uv: stop thinking about environments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98448"/>
            <a:ext cx="914400" cy="38100"/>
          </a:xfrm>
          <a:prstGeom prst="rect">
            <a:avLst/>
          </a:prstGeom>
          <a:solidFill>
            <a:srgbClr val="3776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355080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>
                <a:solidFill>
                  <a:srgbClr val="6B7284"/>
                </a:solidFill>
                <a:latin typeface="Calibri"/>
              </a:rPr>
              <a:t>Module 16.1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07040" y="635508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>
                <a:solidFill>
                  <a:srgbClr val="6B7284"/>
                </a:solidFill>
                <a:latin typeface="Calibri"/>
              </a:rPr>
              <a:t>3 / 20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691640"/>
            <a:ext cx="10881360" cy="4480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300"/>
              </a:spcAft>
            </a:pPr>
            <a:r>
              <a:rPr sz="1700">
                <a:solidFill>
                  <a:srgbClr val="3776AB"/>
                </a:solidFill>
                <a:latin typeface="Calibri"/>
              </a:rPr>
              <a:t>▪  </a:t>
            </a:r>
            <a:r>
              <a:rPr sz="1700">
                <a:solidFill>
                  <a:srgbClr val="1A1D29"/>
                </a:solidFill>
                <a:latin typeface="Calibri"/>
              </a:rPr>
              <a:t>uv init my-service  -- pyproject.toml + src/ layout in one second</a:t>
            </a:r>
          </a:p>
          <a:p>
            <a:pPr>
              <a:spcAft>
                <a:spcPts val="1300"/>
              </a:spcAft>
            </a:pPr>
            <a:r>
              <a:rPr sz="1700">
                <a:solidFill>
                  <a:srgbClr val="3776AB"/>
                </a:solidFill>
                <a:latin typeface="Calibri"/>
              </a:rPr>
              <a:t>▪  </a:t>
            </a:r>
            <a:r>
              <a:rPr sz="1700">
                <a:solidFill>
                  <a:srgbClr val="1A1D29"/>
                </a:solidFill>
                <a:latin typeface="Calibri"/>
              </a:rPr>
              <a:t>uv add anthropic pydantic httpx  -- resolve, install, lock, record</a:t>
            </a:r>
          </a:p>
          <a:p>
            <a:pPr>
              <a:spcAft>
                <a:spcPts val="1300"/>
              </a:spcAft>
            </a:pPr>
            <a:r>
              <a:rPr sz="1700">
                <a:solidFill>
                  <a:srgbClr val="3776AB"/>
                </a:solidFill>
                <a:latin typeface="Calibri"/>
              </a:rPr>
              <a:t>▪  </a:t>
            </a:r>
            <a:r>
              <a:rPr sz="1700">
                <a:solidFill>
                  <a:srgbClr val="1A1D29"/>
                </a:solidFill>
                <a:latin typeface="Calibri"/>
              </a:rPr>
              <a:t>uv run pytest  -- you never 'source activate' again</a:t>
            </a:r>
          </a:p>
          <a:p>
            <a:pPr>
              <a:spcAft>
                <a:spcPts val="1300"/>
              </a:spcAft>
            </a:pPr>
            <a:r>
              <a:rPr sz="1700">
                <a:solidFill>
                  <a:srgbClr val="3776AB"/>
                </a:solidFill>
                <a:latin typeface="Calibri"/>
              </a:rPr>
              <a:t>▪  </a:t>
            </a:r>
            <a:r>
              <a:rPr sz="1700">
                <a:solidFill>
                  <a:srgbClr val="1A1D29"/>
                </a:solidFill>
                <a:latin typeface="Calibri"/>
              </a:rPr>
              <a:t>uv sync  -- make this machine match uv.lock exactly</a:t>
            </a:r>
          </a:p>
          <a:p>
            <a:pPr>
              <a:spcAft>
                <a:spcPts val="1300"/>
              </a:spcAft>
            </a:pPr>
            <a:r>
              <a:rPr sz="1700">
                <a:solidFill>
                  <a:srgbClr val="3776AB"/>
                </a:solidFill>
                <a:latin typeface="Calibri"/>
              </a:rPr>
              <a:t>▪  </a:t>
            </a:r>
            <a:r>
              <a:rPr sz="1700">
                <a:solidFill>
                  <a:srgbClr val="1A1D29"/>
                </a:solidFill>
                <a:latin typeface="Calibri"/>
              </a:rPr>
              <a:t>pyproject.toml holds deps, entry points AND all tool config. One file</a:t>
            </a:r>
          </a:p>
          <a:p>
            <a:pPr>
              <a:spcAft>
                <a:spcPts val="1300"/>
              </a:spcAft>
            </a:pPr>
            <a:r>
              <a:rPr sz="1700">
                <a:solidFill>
                  <a:srgbClr val="3776AB"/>
                </a:solidFill>
                <a:latin typeface="Calibri"/>
              </a:rPr>
              <a:t>▪  </a:t>
            </a:r>
            <a:r>
              <a:rPr sz="1700">
                <a:solidFill>
                  <a:srgbClr val="1A1D29"/>
                </a:solidFill>
                <a:latin typeface="Calibri"/>
              </a:rPr>
              <a:t>10-100x faster than pip. Commit uv.lock; never commit .venv/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3776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75488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 i="0">
                <a:solidFill>
                  <a:srgbClr val="1A1D29"/>
                </a:solidFill>
                <a:latin typeface="Calibri"/>
              </a:rPr>
              <a:t>The packaging landscape, decided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98448"/>
            <a:ext cx="914400" cy="38100"/>
          </a:xfrm>
          <a:prstGeom prst="rect">
            <a:avLst/>
          </a:prstGeom>
          <a:solidFill>
            <a:srgbClr val="3776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355080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>
                <a:solidFill>
                  <a:srgbClr val="6B7284"/>
                </a:solidFill>
                <a:latin typeface="Calibri"/>
              </a:rPr>
              <a:t>Module 16.1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07040" y="635508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>
                <a:solidFill>
                  <a:srgbClr val="6B7284"/>
                </a:solidFill>
                <a:latin typeface="Calibri"/>
              </a:rPr>
              <a:t>4 / 20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737360"/>
          <a:ext cx="10881360" cy="23042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27120"/>
                <a:gridCol w="3627120"/>
                <a:gridCol w="3627120"/>
              </a:tblGrid>
              <a:tr h="384048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Tool</a:t>
                      </a:r>
                    </a:p>
                  </a:txBody>
                  <a:tcPr anchor="ctr">
                    <a:solidFill>
                      <a:srgbClr val="3776A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Use it?</a:t>
                      </a:r>
                    </a:p>
                  </a:txBody>
                  <a:tcPr anchor="ctr">
                    <a:solidFill>
                      <a:srgbClr val="3776A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Verdict</a:t>
                      </a:r>
                    </a:p>
                  </a:txBody>
                  <a:tcPr anchor="ctr">
                    <a:solidFill>
                      <a:srgbClr val="3776AB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1A1D29"/>
                          </a:solidFill>
                          <a:latin typeface="Calibri"/>
                        </a:rPr>
                        <a:t>uv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D29"/>
                          </a:solidFill>
                          <a:latin typeface="Calibri"/>
                        </a:rPr>
                        <a:t>Yes -- default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D29"/>
                          </a:solidFill>
                          <a:latin typeface="Calibri"/>
                        </a:rPr>
                        <a:t>One Rust binary, manages Python versions too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1A1D29"/>
                          </a:solidFill>
                          <a:latin typeface="Calibri"/>
                        </a:rPr>
                        <a:t>pip + venv</a:t>
                      </a:r>
                    </a:p>
                  </a:txBody>
                  <a:tcPr anchor="ctr">
                    <a:solidFill>
                      <a:srgbClr val="F6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D29"/>
                          </a:solidFill>
                          <a:latin typeface="Calibri"/>
                        </a:rPr>
                        <a:t>Only as fallback</a:t>
                      </a:r>
                    </a:p>
                  </a:txBody>
                  <a:tcPr anchor="ctr">
                    <a:solidFill>
                      <a:srgbClr val="F6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D29"/>
                          </a:solidFill>
                          <a:latin typeface="Calibri"/>
                        </a:rPr>
                        <a:t>Works, slow, does not lock</a:t>
                      </a:r>
                    </a:p>
                  </a:txBody>
                  <a:tcPr anchor="ctr">
                    <a:solidFill>
                      <a:srgbClr val="F6F7FB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1A1D29"/>
                          </a:solidFill>
                          <a:latin typeface="Calibri"/>
                        </a:rPr>
                        <a:t>poetry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D29"/>
                          </a:solidFill>
                          <a:latin typeface="Calibri"/>
                        </a:rPr>
                        <a:t>Legacy projects only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D29"/>
                          </a:solidFill>
                          <a:latin typeface="Calibri"/>
                        </a:rPr>
                        <a:t>Fine but slower; do not start here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1A1D29"/>
                          </a:solidFill>
                          <a:latin typeface="Calibri"/>
                        </a:rPr>
                        <a:t>pipenv</a:t>
                      </a:r>
                    </a:p>
                  </a:txBody>
                  <a:tcPr anchor="ctr">
                    <a:solidFill>
                      <a:srgbClr val="F6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D29"/>
                          </a:solidFill>
                          <a:latin typeface="Calibri"/>
                        </a:rPr>
                        <a:t>No</a:t>
                      </a:r>
                    </a:p>
                  </a:txBody>
                  <a:tcPr anchor="ctr">
                    <a:solidFill>
                      <a:srgbClr val="F6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D29"/>
                          </a:solidFill>
                          <a:latin typeface="Calibri"/>
                        </a:rPr>
                        <a:t>Effectively dead</a:t>
                      </a:r>
                    </a:p>
                  </a:txBody>
                  <a:tcPr anchor="ctr">
                    <a:solidFill>
                      <a:srgbClr val="F6F7FB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1A1D29"/>
                          </a:solidFill>
                          <a:latin typeface="Calibri"/>
                        </a:rPr>
                        <a:t>conda / pixi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D29"/>
                          </a:solidFill>
                          <a:latin typeface="Calibri"/>
                        </a:rPr>
                        <a:t>Binary-heavy stacks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D29"/>
                          </a:solidFill>
                          <a:latin typeface="Calibri"/>
                        </a:rPr>
                        <a:t>The only remaining good reason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3776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75488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 i="0">
                <a:solidFill>
                  <a:srgbClr val="1A1D29"/>
                </a:solidFill>
                <a:latin typeface="Calibri"/>
              </a:rPr>
              <a:t>ruff: lint and format in one, instantly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98448"/>
            <a:ext cx="914400" cy="38100"/>
          </a:xfrm>
          <a:prstGeom prst="rect">
            <a:avLst/>
          </a:prstGeom>
          <a:solidFill>
            <a:srgbClr val="3776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355080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>
                <a:solidFill>
                  <a:srgbClr val="6B7284"/>
                </a:solidFill>
                <a:latin typeface="Calibri"/>
              </a:rPr>
              <a:t>Module 16.1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07040" y="635508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>
                <a:solidFill>
                  <a:srgbClr val="6B7284"/>
                </a:solidFill>
                <a:latin typeface="Calibri"/>
              </a:rPr>
              <a:t>5 / 20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691640"/>
            <a:ext cx="10881360" cy="4480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300"/>
              </a:spcAft>
            </a:pPr>
            <a:r>
              <a:rPr sz="1700">
                <a:solidFill>
                  <a:srgbClr val="3776AB"/>
                </a:solidFill>
                <a:latin typeface="Calibri"/>
              </a:rPr>
              <a:t>▪  </a:t>
            </a:r>
            <a:r>
              <a:rPr sz="1700">
                <a:solidFill>
                  <a:srgbClr val="1A1D29"/>
                </a:solidFill>
                <a:latin typeface="Calibri"/>
              </a:rPr>
              <a:t>Replaces flake8, isort, black, pyupgrade, pydocstyle, autoflake</a:t>
            </a:r>
          </a:p>
          <a:p>
            <a:pPr>
              <a:spcAft>
                <a:spcPts val="1300"/>
              </a:spcAft>
            </a:pPr>
            <a:r>
              <a:rPr sz="1700">
                <a:solidFill>
                  <a:srgbClr val="3776AB"/>
                </a:solidFill>
                <a:latin typeface="Calibri"/>
              </a:rPr>
              <a:t>▪  </a:t>
            </a:r>
            <a:r>
              <a:rPr sz="1700">
                <a:solidFill>
                  <a:srgbClr val="1A1D29"/>
                </a:solidFill>
                <a:latin typeface="Calibri"/>
              </a:rPr>
              <a:t>Sub-second on a large repo -- so you run it on save, not in CI only</a:t>
            </a:r>
          </a:p>
          <a:p>
            <a:pPr>
              <a:spcAft>
                <a:spcPts val="1300"/>
              </a:spcAft>
            </a:pPr>
            <a:r>
              <a:rPr sz="1700">
                <a:solidFill>
                  <a:srgbClr val="3776AB"/>
                </a:solidFill>
                <a:latin typeface="Calibri"/>
              </a:rPr>
              <a:t>▪  </a:t>
            </a:r>
            <a:r>
              <a:rPr sz="1700">
                <a:solidFill>
                  <a:srgbClr val="1A1D29"/>
                </a:solidFill>
                <a:latin typeface="Calibri"/>
              </a:rPr>
              <a:t>select = [E, F, I, B, UP, SIM, ASYNC, RUF]</a:t>
            </a:r>
          </a:p>
          <a:p>
            <a:pPr>
              <a:spcAft>
                <a:spcPts val="1300"/>
              </a:spcAft>
            </a:pPr>
            <a:r>
              <a:rPr sz="1700">
                <a:solidFill>
                  <a:srgbClr val="3776AB"/>
                </a:solidFill>
                <a:latin typeface="Calibri"/>
              </a:rPr>
              <a:t>▪  </a:t>
            </a:r>
            <a:r>
              <a:rPr sz="1700">
                <a:solidFill>
                  <a:srgbClr val="1A1D29"/>
                </a:solidFill>
                <a:latin typeface="Calibri"/>
              </a:rPr>
              <a:t>B (bugbear) catches the mutable-default-argument bug for free</a:t>
            </a:r>
          </a:p>
          <a:p>
            <a:pPr>
              <a:spcAft>
                <a:spcPts val="1300"/>
              </a:spcAft>
            </a:pPr>
            <a:r>
              <a:rPr sz="1700">
                <a:solidFill>
                  <a:srgbClr val="3776AB"/>
                </a:solidFill>
                <a:latin typeface="Calibri"/>
              </a:rPr>
              <a:t>▪  </a:t>
            </a:r>
            <a:r>
              <a:rPr sz="1700">
                <a:solidFill>
                  <a:srgbClr val="1A1D29"/>
                </a:solidFill>
                <a:latin typeface="Calibri"/>
              </a:rPr>
              <a:t>ASYNC flags blocking calls inside async functions -- real value for LLM code</a:t>
            </a:r>
          </a:p>
          <a:p>
            <a:pPr>
              <a:spcAft>
                <a:spcPts val="1300"/>
              </a:spcAft>
            </a:pPr>
            <a:r>
              <a:rPr sz="1700">
                <a:solidFill>
                  <a:srgbClr val="3776AB"/>
                </a:solidFill>
                <a:latin typeface="Calibri"/>
              </a:rPr>
              <a:t>▪  </a:t>
            </a:r>
            <a:r>
              <a:rPr sz="1700">
                <a:solidFill>
                  <a:srgbClr val="1A1D29"/>
                </a:solidFill>
                <a:latin typeface="Calibri"/>
              </a:rPr>
              <a:t>Do not argue about formatting. Hook it and reclaim the meeting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3776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75488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 i="0">
                <a:solidFill>
                  <a:srgbClr val="1A1D29"/>
                </a:solidFill>
                <a:latin typeface="Calibri"/>
              </a:rPr>
              <a:t>Types: what they buy, what they do not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98448"/>
            <a:ext cx="914400" cy="38100"/>
          </a:xfrm>
          <a:prstGeom prst="rect">
            <a:avLst/>
          </a:prstGeom>
          <a:solidFill>
            <a:srgbClr val="3776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355080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>
                <a:solidFill>
                  <a:srgbClr val="6B7284"/>
                </a:solidFill>
                <a:latin typeface="Calibri"/>
              </a:rPr>
              <a:t>Module 16.1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07040" y="635508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>
                <a:solidFill>
                  <a:srgbClr val="6B7284"/>
                </a:solidFill>
                <a:latin typeface="Calibri"/>
              </a:rPr>
              <a:t>6 / 20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737360"/>
          <a:ext cx="10881360" cy="23042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20340"/>
                <a:gridCol w="2720340"/>
                <a:gridCol w="2720340"/>
                <a:gridCol w="2720340"/>
              </a:tblGrid>
              <a:tr h="384048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Construct</a:t>
                      </a:r>
                    </a:p>
                  </a:txBody>
                  <a:tcPr anchor="ctr">
                    <a:solidFill>
                      <a:srgbClr val="3776A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Runtime cost</a:t>
                      </a:r>
                    </a:p>
                  </a:txBody>
                  <a:tcPr anchor="ctr">
                    <a:solidFill>
                      <a:srgbClr val="3776A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Validates?</a:t>
                      </a:r>
                    </a:p>
                  </a:txBody>
                  <a:tcPr anchor="ctr">
                    <a:solidFill>
                      <a:srgbClr val="3776A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Use for</a:t>
                      </a:r>
                    </a:p>
                  </a:txBody>
                  <a:tcPr anchor="ctr">
                    <a:solidFill>
                      <a:srgbClr val="3776AB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1A1D29"/>
                          </a:solidFill>
                          <a:latin typeface="Calibri"/>
                        </a:rPr>
                        <a:t>type hint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D29"/>
                          </a:solidFill>
                          <a:latin typeface="Calibri"/>
                        </a:rPr>
                        <a:t>none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D29"/>
                          </a:solidFill>
                          <a:latin typeface="Calibri"/>
                        </a:rPr>
                        <a:t>no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D29"/>
                          </a:solidFill>
                          <a:latin typeface="Calibri"/>
                        </a:rPr>
                        <a:t>the checker, the editor, the next human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1A1D29"/>
                          </a:solidFill>
                          <a:latin typeface="Calibri"/>
                        </a:rPr>
                        <a:t>TypedDict</a:t>
                      </a:r>
                    </a:p>
                  </a:txBody>
                  <a:tcPr anchor="ctr">
                    <a:solidFill>
                      <a:srgbClr val="F6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D29"/>
                          </a:solidFill>
                          <a:latin typeface="Calibri"/>
                        </a:rPr>
                        <a:t>none -- it IS a dict</a:t>
                      </a:r>
                    </a:p>
                  </a:txBody>
                  <a:tcPr anchor="ctr">
                    <a:solidFill>
                      <a:srgbClr val="F6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D29"/>
                          </a:solidFill>
                          <a:latin typeface="Calibri"/>
                        </a:rPr>
                        <a:t>no</a:t>
                      </a:r>
                    </a:p>
                  </a:txBody>
                  <a:tcPr anchor="ctr">
                    <a:solidFill>
                      <a:srgbClr val="F6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D29"/>
                          </a:solidFill>
                          <a:latin typeface="Calibri"/>
                        </a:rPr>
                        <a:t>API request/response payloads</a:t>
                      </a:r>
                    </a:p>
                  </a:txBody>
                  <a:tcPr anchor="ctr">
                    <a:solidFill>
                      <a:srgbClr val="F6F7FB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1A1D29"/>
                          </a:solidFill>
                          <a:latin typeface="Calibri"/>
                        </a:rPr>
                        <a:t>dataclass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D29"/>
                          </a:solidFill>
                          <a:latin typeface="Calibri"/>
                        </a:rPr>
                        <a:t>low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D29"/>
                          </a:solidFill>
                          <a:latin typeface="Calibri"/>
                        </a:rPr>
                        <a:t>no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D29"/>
                          </a:solidFill>
                          <a:latin typeface="Calibri"/>
                        </a:rPr>
                        <a:t>internal structs, state you created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1A1D29"/>
                          </a:solidFill>
                          <a:latin typeface="Calibri"/>
                        </a:rPr>
                        <a:t>Protocol</a:t>
                      </a:r>
                    </a:p>
                  </a:txBody>
                  <a:tcPr anchor="ctr">
                    <a:solidFill>
                      <a:srgbClr val="F6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D29"/>
                          </a:solidFill>
                          <a:latin typeface="Calibri"/>
                        </a:rPr>
                        <a:t>none</a:t>
                      </a:r>
                    </a:p>
                  </a:txBody>
                  <a:tcPr anchor="ctr">
                    <a:solidFill>
                      <a:srgbClr val="F6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D29"/>
                          </a:solidFill>
                          <a:latin typeface="Calibri"/>
                        </a:rPr>
                        <a:t>no</a:t>
                      </a:r>
                    </a:p>
                  </a:txBody>
                  <a:tcPr anchor="ctr">
                    <a:solidFill>
                      <a:srgbClr val="F6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D29"/>
                          </a:solidFill>
                          <a:latin typeface="Calibri"/>
                        </a:rPr>
                        <a:t>typing 'an LLM client' without a vendor base class</a:t>
                      </a:r>
                    </a:p>
                  </a:txBody>
                  <a:tcPr anchor="ctr">
                    <a:solidFill>
                      <a:srgbClr val="F6F7FB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1A1D29"/>
                          </a:solidFill>
                          <a:latin typeface="Calibri"/>
                        </a:rPr>
                        <a:t>Pydantic BaseModel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D29"/>
                          </a:solidFill>
                          <a:latin typeface="Calibri"/>
                        </a:rPr>
                        <a:t>moderate, Rust core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D29"/>
                          </a:solidFill>
                          <a:latin typeface="Calibri"/>
                        </a:rPr>
                        <a:t>YES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D29"/>
                          </a:solidFill>
                          <a:latin typeface="Calibri"/>
                        </a:rPr>
                        <a:t>anything crossing a trust boundary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3776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75488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 i="0">
                <a:solidFill>
                  <a:srgbClr val="1A1D29"/>
                </a:solidFill>
                <a:latin typeface="Calibri"/>
              </a:rPr>
              <a:t>The decision rule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98448"/>
            <a:ext cx="914400" cy="38100"/>
          </a:xfrm>
          <a:prstGeom prst="rect">
            <a:avLst/>
          </a:prstGeom>
          <a:solidFill>
            <a:srgbClr val="3776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355080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>
                <a:solidFill>
                  <a:srgbClr val="6B7284"/>
                </a:solidFill>
                <a:latin typeface="Calibri"/>
              </a:rPr>
              <a:t>Module 16.1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07040" y="635508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>
                <a:solidFill>
                  <a:srgbClr val="6B7284"/>
                </a:solidFill>
                <a:latin typeface="Calibri"/>
              </a:rPr>
              <a:t>7 / 20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737360"/>
            <a:ext cx="10881360" cy="1554480"/>
          </a:xfrm>
          <a:prstGeom prst="rect">
            <a:avLst/>
          </a:prstGeom>
          <a:solidFill>
            <a:srgbClr val="F6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1737360"/>
            <a:ext cx="63500" cy="1554480"/>
          </a:xfrm>
          <a:prstGeom prst="rect">
            <a:avLst/>
          </a:prstGeom>
          <a:solidFill>
            <a:srgbClr val="3776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1965960"/>
            <a:ext cx="10149840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 i="1">
                <a:solidFill>
                  <a:srgbClr val="1A1D29"/>
                </a:solidFill>
                <a:latin typeface="Calibri"/>
              </a:rPr>
              <a:t>Data you created -&gt; dataclass. Data someone else created -&gt; Pydantic.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611880"/>
            <a:ext cx="10881360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100"/>
              </a:spcAft>
            </a:pPr>
            <a:r>
              <a:rPr sz="1700">
                <a:solidFill>
                  <a:srgbClr val="3776AB"/>
                </a:solidFill>
                <a:latin typeface="Calibri"/>
              </a:rPr>
              <a:t>▪  </a:t>
            </a:r>
            <a:r>
              <a:rPr sz="1700">
                <a:solidFill>
                  <a:srgbClr val="1A1D29"/>
                </a:solidFill>
                <a:latin typeface="Calibri"/>
              </a:rPr>
              <a:t>LLM output is data someone else created</a:t>
            </a:r>
          </a:p>
          <a:p>
            <a:pPr>
              <a:spcAft>
                <a:spcPts val="1100"/>
              </a:spcAft>
            </a:pPr>
            <a:r>
              <a:rPr sz="1700">
                <a:solidFill>
                  <a:srgbClr val="3776AB"/>
                </a:solidFill>
                <a:latin typeface="Calibri"/>
              </a:rPr>
              <a:t>▪  </a:t>
            </a:r>
            <a:r>
              <a:rPr sz="1700">
                <a:solidFill>
                  <a:srgbClr val="1A1D29"/>
                </a:solidFill>
                <a:latin typeface="Calibri"/>
              </a:rPr>
              <a:t>And that someone is a stochastic text generator</a:t>
            </a:r>
          </a:p>
          <a:p>
            <a:pPr>
              <a:spcAft>
                <a:spcPts val="1100"/>
              </a:spcAft>
            </a:pPr>
            <a:r>
              <a:rPr sz="1700">
                <a:solidFill>
                  <a:srgbClr val="3776AB"/>
                </a:solidFill>
                <a:latin typeface="Calibri"/>
              </a:rPr>
              <a:t>▪  </a:t>
            </a:r>
            <a:r>
              <a:rPr sz="1700">
                <a:solidFill>
                  <a:srgbClr val="1A1D29"/>
                </a:solidFill>
                <a:latin typeface="Calibri"/>
              </a:rPr>
              <a:t>mypy in CI, pyright in the editor. Running both is normal</a:t>
            </a:r>
          </a:p>
          <a:p>
            <a:pPr>
              <a:spcAft>
                <a:spcPts val="1100"/>
              </a:spcAft>
            </a:pPr>
            <a:r>
              <a:rPr sz="1700">
                <a:solidFill>
                  <a:srgbClr val="3776AB"/>
                </a:solidFill>
                <a:latin typeface="Calibri"/>
              </a:rPr>
              <a:t>▪  </a:t>
            </a:r>
            <a:r>
              <a:rPr sz="1700">
                <a:solidFill>
                  <a:srgbClr val="1A1D29"/>
                </a:solidFill>
                <a:latin typeface="Calibri"/>
              </a:rPr>
              <a:t>On legacy code: ratchet strictness per module, never all at once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3776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75488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 i="0">
                <a:solidFill>
                  <a:srgbClr val="1A1D29"/>
                </a:solidFill>
                <a:latin typeface="Calibri"/>
              </a:rPr>
              <a:t>Pydantic v2: one class, three jobs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98448"/>
            <a:ext cx="914400" cy="38100"/>
          </a:xfrm>
          <a:prstGeom prst="rect">
            <a:avLst/>
          </a:prstGeom>
          <a:solidFill>
            <a:srgbClr val="3776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355080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>
                <a:solidFill>
                  <a:srgbClr val="6B7284"/>
                </a:solidFill>
                <a:latin typeface="Calibri"/>
              </a:rPr>
              <a:t>Module 16.1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07040" y="635508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>
                <a:solidFill>
                  <a:srgbClr val="6B7284"/>
                </a:solidFill>
                <a:latin typeface="Calibri"/>
              </a:rPr>
              <a:t>8 / 20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691640"/>
            <a:ext cx="10881360" cy="4480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300"/>
              </a:spcAft>
            </a:pPr>
            <a:r>
              <a:rPr sz="1700">
                <a:solidFill>
                  <a:srgbClr val="3776AB"/>
                </a:solidFill>
                <a:latin typeface="Calibri"/>
              </a:rPr>
              <a:t>▪  </a:t>
            </a:r>
            <a:r>
              <a:rPr sz="1700">
                <a:solidFill>
                  <a:srgbClr val="1A1D29"/>
                </a:solidFill>
                <a:latin typeface="Calibri"/>
              </a:rPr>
              <a:t>model_json_schema() -&gt; the tool schema you SEND the provider</a:t>
            </a:r>
          </a:p>
          <a:p>
            <a:pPr>
              <a:spcAft>
                <a:spcPts val="1300"/>
              </a:spcAft>
            </a:pPr>
            <a:r>
              <a:rPr sz="1700">
                <a:solidFill>
                  <a:srgbClr val="3776AB"/>
                </a:solidFill>
                <a:latin typeface="Calibri"/>
              </a:rPr>
              <a:t>▪  </a:t>
            </a:r>
            <a:r>
              <a:rPr sz="1700">
                <a:solidFill>
                  <a:srgbClr val="1A1D29"/>
                </a:solidFill>
                <a:latin typeface="Calibri"/>
              </a:rPr>
              <a:t>model_validate() -&gt; validation of what you GET BACK</a:t>
            </a:r>
          </a:p>
          <a:p>
            <a:pPr>
              <a:spcAft>
                <a:spcPts val="1300"/>
              </a:spcAft>
            </a:pPr>
            <a:r>
              <a:rPr sz="1700">
                <a:solidFill>
                  <a:srgbClr val="3776AB"/>
                </a:solidFill>
                <a:latin typeface="Calibri"/>
              </a:rPr>
              <a:t>▪  </a:t>
            </a:r>
            <a:r>
              <a:rPr sz="1700">
                <a:solidFill>
                  <a:srgbClr val="1A1D29"/>
                </a:solidFill>
                <a:latin typeface="Calibri"/>
              </a:rPr>
              <a:t>typed attributes -&gt; your checker and IDE understand the result</a:t>
            </a:r>
          </a:p>
          <a:p>
            <a:pPr>
              <a:spcAft>
                <a:spcPts val="1300"/>
              </a:spcAft>
            </a:pPr>
            <a:r>
              <a:rPr sz="1700">
                <a:solidFill>
                  <a:srgbClr val="3776AB"/>
                </a:solidFill>
                <a:latin typeface="Calibri"/>
              </a:rPr>
              <a:t>▪  </a:t>
            </a:r>
            <a:r>
              <a:rPr sz="1700">
                <a:solidFill>
                  <a:srgbClr val="1A1D29"/>
                </a:solidFill>
                <a:latin typeface="Calibri"/>
              </a:rPr>
              <a:t>Schema and parser cannot drift, because they are the same class</a:t>
            </a:r>
          </a:p>
          <a:p>
            <a:pPr>
              <a:spcAft>
                <a:spcPts val="1300"/>
              </a:spcAft>
            </a:pPr>
            <a:r>
              <a:rPr sz="1700">
                <a:solidFill>
                  <a:srgbClr val="3776AB"/>
                </a:solidFill>
                <a:latin typeface="Calibri"/>
              </a:rPr>
              <a:t>▪  </a:t>
            </a:r>
            <a:r>
              <a:rPr sz="1700">
                <a:solidFill>
                  <a:srgbClr val="1A1D29"/>
                </a:solidFill>
                <a:latin typeface="Calibri"/>
              </a:rPr>
              <a:t>Field order = generation order: put evidence BEFORE the judgement</a:t>
            </a:r>
          </a:p>
          <a:p>
            <a:pPr>
              <a:spcAft>
                <a:spcPts val="1300"/>
              </a:spcAft>
            </a:pPr>
            <a:r>
              <a:rPr sz="1700">
                <a:solidFill>
                  <a:srgbClr val="3776AB"/>
                </a:solidFill>
                <a:latin typeface="Calibri"/>
              </a:rPr>
              <a:t>▪  </a:t>
            </a:r>
            <a:r>
              <a:rPr sz="1700">
                <a:solidFill>
                  <a:srgbClr val="1A1D29"/>
                </a:solidFill>
                <a:latin typeface="Calibri"/>
              </a:rPr>
              <a:t>Enums, not free strings. ge/le on every number. extra='forbid'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3776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2651760"/>
            <a:ext cx="1005840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4400" b="1" i="0">
                <a:solidFill>
                  <a:srgbClr val="1A1D29"/>
                </a:solidFill>
                <a:latin typeface="Calibri"/>
              </a:rPr>
              <a:t>Part 2 -- Making it fast</a:t>
            </a:r>
          </a:p>
          <a:p>
            <a:pPr algn="l">
              <a:spcAft>
                <a:spcPts val="600"/>
              </a:spcAft>
            </a:pPr>
            <a:r>
              <a:rPr sz="1800" b="0" i="0">
                <a:solidFill>
                  <a:srgbClr val="6B7284"/>
                </a:solidFill>
                <a:latin typeface="Calibri"/>
              </a:rPr>
              <a:t>Vectorization, broadcasting, and the memory nobody measures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3776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75488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 i="0">
                <a:solidFill>
                  <a:srgbClr val="1A1D29"/>
                </a:solidFill>
                <a:latin typeface="Calibri"/>
              </a:rPr>
              <a:t>The benchmark that ends the argument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98448"/>
            <a:ext cx="914400" cy="38100"/>
          </a:xfrm>
          <a:prstGeom prst="rect">
            <a:avLst/>
          </a:prstGeom>
          <a:solidFill>
            <a:srgbClr val="3776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355080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>
                <a:solidFill>
                  <a:srgbClr val="6B7284"/>
                </a:solidFill>
                <a:latin typeface="Calibri"/>
              </a:rPr>
              <a:t>Module 16.1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07040" y="635508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>
                <a:solidFill>
                  <a:srgbClr val="6B7284"/>
                </a:solidFill>
                <a:latin typeface="Calibri"/>
              </a:rPr>
              <a:t>10 / 20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737360"/>
          <a:ext cx="10881360" cy="1920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27120"/>
                <a:gridCol w="3627120"/>
                <a:gridCol w="3627120"/>
              </a:tblGrid>
              <a:tr h="384048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Approach</a:t>
                      </a:r>
                    </a:p>
                  </a:txBody>
                  <a:tcPr anchor="ctr">
                    <a:solidFill>
                      <a:srgbClr val="3776A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Time</a:t>
                      </a:r>
                    </a:p>
                  </a:txBody>
                  <a:tcPr anchor="ctr">
                    <a:solidFill>
                      <a:srgbClr val="3776A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Speedup</a:t>
                      </a:r>
                    </a:p>
                  </a:txBody>
                  <a:tcPr anchor="ctr">
                    <a:solidFill>
                      <a:srgbClr val="3776AB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1A1D29"/>
                          </a:solidFill>
                          <a:latin typeface="Calibri"/>
                        </a:rPr>
                        <a:t>Pure Python triple loop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D29"/>
                          </a:solidFill>
                          <a:latin typeface="Calibri"/>
                        </a:rPr>
                        <a:t>1.12 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D29"/>
                          </a:solidFill>
                          <a:latin typeface="Calibri"/>
                        </a:rPr>
                        <a:t>1x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1A1D29"/>
                          </a:solidFill>
                          <a:latin typeface="Calibri"/>
                        </a:rPr>
                        <a:t>NumPy INSIDE a Python loop</a:t>
                      </a:r>
                    </a:p>
                  </a:txBody>
                  <a:tcPr anchor="ctr">
                    <a:solidFill>
                      <a:srgbClr val="F6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D29"/>
                          </a:solidFill>
                          <a:latin typeface="Calibri"/>
                        </a:rPr>
                        <a:t>214 ms</a:t>
                      </a:r>
                    </a:p>
                  </a:txBody>
                  <a:tcPr anchor="ctr">
                    <a:solidFill>
                      <a:srgbClr val="F6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D29"/>
                          </a:solidFill>
                          <a:latin typeface="Calibri"/>
                        </a:rPr>
                        <a:t>5x</a:t>
                      </a:r>
                    </a:p>
                  </a:txBody>
                  <a:tcPr anchor="ctr">
                    <a:solidFill>
                      <a:srgbClr val="F6F7FB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1A1D29"/>
                          </a:solidFill>
                          <a:latin typeface="Calibri"/>
                        </a:rPr>
                        <a:t>Broadcasting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D29"/>
                          </a:solidFill>
                          <a:latin typeface="Calibri"/>
                        </a:rPr>
                        <a:t>15.6 ms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D29"/>
                          </a:solidFill>
                          <a:latin typeface="Calibri"/>
                        </a:rPr>
                        <a:t>72x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1A1D29"/>
                          </a:solidFill>
                          <a:latin typeface="Calibri"/>
                        </a:rPr>
                        <a:t>BLAS gemm identity</a:t>
                      </a:r>
                    </a:p>
                  </a:txBody>
                  <a:tcPr anchor="ctr">
                    <a:solidFill>
                      <a:srgbClr val="F6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D29"/>
                          </a:solidFill>
                          <a:latin typeface="Calibri"/>
                        </a:rPr>
                        <a:t>0.34 ms</a:t>
                      </a:r>
                    </a:p>
                  </a:txBody>
                  <a:tcPr anchor="ctr">
                    <a:solidFill>
                      <a:srgbClr val="F6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D29"/>
                          </a:solidFill>
                          <a:latin typeface="Calibri"/>
                        </a:rPr>
                        <a:t>3295x</a:t>
                      </a:r>
                    </a:p>
                  </a:txBody>
                  <a:tcPr anchor="ctr">
                    <a:solidFill>
                      <a:srgbClr val="F6F7F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3776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75488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 i="0">
                <a:solidFill>
                  <a:srgbClr val="1A1D29"/>
                </a:solidFill>
                <a:latin typeface="Calibri"/>
              </a:rPr>
              <a:t>Broadcasting has a bill, payable in bytes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98448"/>
            <a:ext cx="914400" cy="38100"/>
          </a:xfrm>
          <a:prstGeom prst="rect">
            <a:avLst/>
          </a:prstGeom>
          <a:solidFill>
            <a:srgbClr val="3776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355080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>
                <a:solidFill>
                  <a:srgbClr val="6B7284"/>
                </a:solidFill>
                <a:latin typeface="Calibri"/>
              </a:rPr>
              <a:t>Module 16.1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07040" y="635508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>
                <a:solidFill>
                  <a:srgbClr val="6B7284"/>
                </a:solidFill>
                <a:latin typeface="Calibri"/>
              </a:rPr>
              <a:t>11 / 20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691640"/>
            <a:ext cx="10881360" cy="4480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300"/>
              </a:spcAft>
            </a:pPr>
            <a:r>
              <a:rPr sz="2000">
                <a:solidFill>
                  <a:srgbClr val="3776AB"/>
                </a:solidFill>
                <a:latin typeface="Calibri"/>
              </a:rPr>
              <a:t>▪  </a:t>
            </a:r>
            <a:r>
              <a:rPr sz="2000">
                <a:solidFill>
                  <a:srgbClr val="1A1D29"/>
                </a:solidFill>
                <a:latin typeface="Calibri"/>
              </a:rPr>
              <a:t>(300,1,128) - (1,400,128) -&gt; materialises (300,400,128)</a:t>
            </a:r>
          </a:p>
          <a:p>
            <a:pPr>
              <a:spcAft>
                <a:spcPts val="1300"/>
              </a:spcAft>
            </a:pPr>
            <a:r>
              <a:rPr sz="2000">
                <a:solidFill>
                  <a:srgbClr val="3776AB"/>
                </a:solidFill>
                <a:latin typeface="Calibri"/>
              </a:rPr>
              <a:t>▪  </a:t>
            </a:r>
            <a:r>
              <a:rPr sz="2000">
                <a:solidFill>
                  <a:srgbClr val="1A1D29"/>
                </a:solidFill>
                <a:latin typeface="Calibri"/>
              </a:rPr>
              <a:t>That is 122.9 MB of temporary for a 0.96 MB answer -- 128x</a:t>
            </a:r>
          </a:p>
          <a:p>
            <a:pPr>
              <a:spcAft>
                <a:spcPts val="1300"/>
              </a:spcAft>
            </a:pPr>
            <a:r>
              <a:rPr sz="2000">
                <a:solidFill>
                  <a:srgbClr val="3776AB"/>
                </a:solidFill>
                <a:latin typeface="Calibri"/>
              </a:rPr>
              <a:t>▪  </a:t>
            </a:r>
            <a:r>
              <a:rPr sz="2000">
                <a:solidFill>
                  <a:srgbClr val="1A1D29"/>
                </a:solidFill>
                <a:latin typeface="Calibri"/>
              </a:rPr>
              <a:t>Scale to 20k x 20k embeddings: 409 GB. Same line of code</a:t>
            </a:r>
          </a:p>
          <a:p>
            <a:pPr>
              <a:spcAft>
                <a:spcPts val="1300"/>
              </a:spcAft>
            </a:pPr>
            <a:r>
              <a:rPr sz="2000">
                <a:solidFill>
                  <a:srgbClr val="3776AB"/>
                </a:solidFill>
                <a:latin typeface="Calibri"/>
              </a:rPr>
              <a:t>▪  </a:t>
            </a:r>
            <a:r>
              <a:rPr sz="2000">
                <a:solidFill>
                  <a:srgbClr val="1A1D29"/>
                </a:solidFill>
                <a:latin typeface="Calibri"/>
              </a:rPr>
              <a:t>Rule: every added dimension, compute what it costs in bytes</a:t>
            </a:r>
          </a:p>
          <a:p>
            <a:pPr>
              <a:spcAft>
                <a:spcPts val="1300"/>
              </a:spcAft>
            </a:pPr>
            <a:r>
              <a:rPr sz="2000">
                <a:solidFill>
                  <a:srgbClr val="3776AB"/>
                </a:solidFill>
                <a:latin typeface="Calibri"/>
              </a:rPr>
              <a:t>▪  </a:t>
            </a:r>
            <a:r>
              <a:rPr sz="2000">
                <a:solidFill>
                  <a:srgbClr val="1A1D29"/>
                </a:solidFill>
                <a:latin typeface="Calibri"/>
              </a:rPr>
              <a:t>float64 is NumPy's default and nobody's actual precision -- cast to float32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3776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75488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 i="0">
                <a:solidFill>
                  <a:srgbClr val="1A1D29"/>
                </a:solidFill>
                <a:latin typeface="Calibri"/>
              </a:rPr>
              <a:t>The bug that ships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98448"/>
            <a:ext cx="914400" cy="38100"/>
          </a:xfrm>
          <a:prstGeom prst="rect">
            <a:avLst/>
          </a:prstGeom>
          <a:solidFill>
            <a:srgbClr val="3776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355080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>
                <a:solidFill>
                  <a:srgbClr val="6B7284"/>
                </a:solidFill>
                <a:latin typeface="Calibri"/>
              </a:rPr>
              <a:t>Module 16.1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07040" y="635508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>
                <a:solidFill>
                  <a:srgbClr val="6B7284"/>
                </a:solidFill>
                <a:latin typeface="Calibri"/>
              </a:rPr>
              <a:t>12 / 20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737360"/>
            <a:ext cx="10881360" cy="1554480"/>
          </a:xfrm>
          <a:prstGeom prst="rect">
            <a:avLst/>
          </a:prstGeom>
          <a:solidFill>
            <a:srgbClr val="F6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1737360"/>
            <a:ext cx="63500" cy="1554480"/>
          </a:xfrm>
          <a:prstGeom prst="rect">
            <a:avLst/>
          </a:prstGeom>
          <a:solidFill>
            <a:srgbClr val="3776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1965960"/>
            <a:ext cx="10149840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 i="1">
                <a:solidFill>
                  <a:srgbClr val="1A1D29"/>
                </a:solidFill>
                <a:latin typeface="Calibri"/>
              </a:rPr>
              <a:t>x = emb - emb.mean(axis=1)   # you meant axis=0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611880"/>
            <a:ext cx="10881360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100"/>
              </a:spcAft>
            </a:pPr>
            <a:r>
              <a:rPr sz="1700">
                <a:solidFill>
                  <a:srgbClr val="3776AB"/>
                </a:solidFill>
                <a:latin typeface="Calibri"/>
              </a:rPr>
              <a:t>▪  </a:t>
            </a:r>
            <a:r>
              <a:rPr sz="1700">
                <a:solidFill>
                  <a:srgbClr val="1A1D29"/>
                </a:solidFill>
                <a:latin typeface="Calibri"/>
              </a:rPr>
              <a:t>On a (5,3) array this raises ValueError -- a gift</a:t>
            </a:r>
          </a:p>
          <a:p>
            <a:pPr>
              <a:spcAft>
                <a:spcPts val="1100"/>
              </a:spcAft>
            </a:pPr>
            <a:r>
              <a:rPr sz="1700">
                <a:solidFill>
                  <a:srgbClr val="3776AB"/>
                </a:solidFill>
                <a:latin typeface="Calibri"/>
              </a:rPr>
              <a:t>▪  </a:t>
            </a:r>
            <a:r>
              <a:rPr sz="1700">
                <a:solidFill>
                  <a:srgbClr val="1A1D29"/>
                </a:solidFill>
                <a:latin typeface="Calibri"/>
              </a:rPr>
              <a:t>On a SQUARE batch the shapes align and it silently computes garbage</a:t>
            </a:r>
          </a:p>
          <a:p>
            <a:pPr>
              <a:spcAft>
                <a:spcPts val="1100"/>
              </a:spcAft>
            </a:pPr>
            <a:r>
              <a:rPr sz="1700">
                <a:solidFill>
                  <a:srgbClr val="3776AB"/>
                </a:solidFill>
                <a:latin typeface="Calibri"/>
              </a:rPr>
              <a:t>▪  </a:t>
            </a:r>
            <a:r>
              <a:rPr sz="1700">
                <a:solidFill>
                  <a:srgbClr val="1A1D29"/>
                </a:solidFill>
                <a:latin typeface="Calibri"/>
              </a:rPr>
              <a:t>No exception, no warning, plausible numbers, eval 4% worse</a:t>
            </a:r>
          </a:p>
          <a:p>
            <a:pPr>
              <a:spcAft>
                <a:spcPts val="1100"/>
              </a:spcAft>
            </a:pPr>
            <a:r>
              <a:rPr sz="1700">
                <a:solidFill>
                  <a:srgbClr val="3776AB"/>
                </a:solidFill>
                <a:latin typeface="Calibri"/>
              </a:rPr>
              <a:t>▪  </a:t>
            </a:r>
            <a:r>
              <a:rPr sz="1700">
                <a:solidFill>
                  <a:srgbClr val="1A1D29"/>
                </a:solidFill>
                <a:latin typeface="Calibri"/>
              </a:rPr>
              <a:t>Fix: keepdims=True on every reduction you will broadcast against</a:t>
            </a:r>
          </a:p>
          <a:p>
            <a:pPr>
              <a:spcAft>
                <a:spcPts val="1100"/>
              </a:spcAft>
            </a:pPr>
            <a:r>
              <a:rPr sz="1700">
                <a:solidFill>
                  <a:srgbClr val="3776AB"/>
                </a:solidFill>
                <a:latin typeface="Calibri"/>
              </a:rPr>
              <a:t>▪  </a:t>
            </a:r>
            <a:r>
              <a:rPr sz="1700">
                <a:solidFill>
                  <a:srgbClr val="1A1D29"/>
                </a:solidFill>
                <a:latin typeface="Calibri"/>
              </a:rPr>
              <a:t>Never smoke-test with a square batch. 32x32 hides every axis bug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3776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2651760"/>
            <a:ext cx="1005840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4400" b="1" i="0">
                <a:solidFill>
                  <a:srgbClr val="1A1D29"/>
                </a:solidFill>
                <a:latin typeface="Calibri"/>
              </a:rPr>
              <a:t>Part 3 -- Async, because LLM calls are waiting</a:t>
            </a:r>
          </a:p>
          <a:p>
            <a:pPr algn="l">
              <a:spcAft>
                <a:spcPts val="600"/>
              </a:spcAft>
            </a:pPr>
            <a:r>
              <a:rPr sz="1800" b="0" i="0">
                <a:solidFill>
                  <a:srgbClr val="6B7284"/>
                </a:solidFill>
                <a:latin typeface="Calibri"/>
              </a:rPr>
              <a:t>gather, semaphores, backoff and jitter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3776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75488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 i="0">
                <a:solidFill>
                  <a:srgbClr val="1A1D29"/>
                </a:solidFill>
                <a:latin typeface="Calibri"/>
              </a:rPr>
              <a:t>The most expensive line in the LLM ecosystem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98448"/>
            <a:ext cx="914400" cy="38100"/>
          </a:xfrm>
          <a:prstGeom prst="rect">
            <a:avLst/>
          </a:prstGeom>
          <a:solidFill>
            <a:srgbClr val="3776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355080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>
                <a:solidFill>
                  <a:srgbClr val="6B7284"/>
                </a:solidFill>
                <a:latin typeface="Calibri"/>
              </a:rPr>
              <a:t>Module 16.1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07040" y="635508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>
                <a:solidFill>
                  <a:srgbClr val="6B7284"/>
                </a:solidFill>
                <a:latin typeface="Calibri"/>
              </a:rPr>
              <a:t>14 / 20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691640"/>
            <a:ext cx="10881360" cy="4480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300"/>
              </a:spcAft>
            </a:pPr>
            <a:r>
              <a:rPr sz="2000">
                <a:solidFill>
                  <a:srgbClr val="3776AB"/>
                </a:solidFill>
                <a:latin typeface="Calibri"/>
              </a:rPr>
              <a:t>▪  </a:t>
            </a:r>
            <a:r>
              <a:rPr sz="2000">
                <a:solidFill>
                  <a:srgbClr val="1A1D29"/>
                </a:solidFill>
                <a:latin typeface="Calibri"/>
              </a:rPr>
              <a:t>for p in prompts: results.append(await client.complete(p))</a:t>
            </a:r>
          </a:p>
          <a:p>
            <a:pPr>
              <a:spcAft>
                <a:spcPts val="1300"/>
              </a:spcAft>
            </a:pPr>
            <a:r>
              <a:rPr sz="2000">
                <a:solidFill>
                  <a:srgbClr val="3776AB"/>
                </a:solidFill>
                <a:latin typeface="Calibri"/>
              </a:rPr>
              <a:t>▪  </a:t>
            </a:r>
            <a:r>
              <a:rPr sz="2000">
                <a:solidFill>
                  <a:srgbClr val="1A1D29"/>
                </a:solidFill>
                <a:latin typeface="Calibri"/>
              </a:rPr>
              <a:t>Throughput is 1/latency forever, regardless of your hardware</a:t>
            </a:r>
          </a:p>
          <a:p>
            <a:pPr>
              <a:spcAft>
                <a:spcPts val="1300"/>
              </a:spcAft>
            </a:pPr>
            <a:r>
              <a:rPr sz="2000">
                <a:solidFill>
                  <a:srgbClr val="3776AB"/>
                </a:solidFill>
                <a:latin typeface="Calibri"/>
              </a:rPr>
              <a:t>▪  </a:t>
            </a:r>
            <a:r>
              <a:rPr sz="2000">
                <a:solidFill>
                  <a:srgbClr val="1A1D29"/>
                </a:solidFill>
                <a:latin typeface="Calibri"/>
              </a:rPr>
              <a:t>await asyncio.gather(*(complete(p) for p in prompts))</a:t>
            </a:r>
          </a:p>
          <a:p>
            <a:pPr>
              <a:spcAft>
                <a:spcPts val="1300"/>
              </a:spcAft>
            </a:pPr>
            <a:r>
              <a:rPr sz="2000">
                <a:solidFill>
                  <a:srgbClr val="3776AB"/>
                </a:solidFill>
                <a:latin typeface="Calibri"/>
              </a:rPr>
              <a:t>▪  </a:t>
            </a:r>
            <a:r>
              <a:rPr sz="2000">
                <a:solidFill>
                  <a:srgbClr val="1A1D29"/>
                </a:solidFill>
                <a:latin typeface="Calibri"/>
              </a:rPr>
              <a:t>Measured: 24 prompts, 7.25 s sequential -&gt; 0.76 s gathered</a:t>
            </a:r>
          </a:p>
          <a:p>
            <a:pPr>
              <a:spcAft>
                <a:spcPts val="1300"/>
              </a:spcAft>
            </a:pPr>
            <a:r>
              <a:rPr sz="2000">
                <a:solidFill>
                  <a:srgbClr val="3776AB"/>
                </a:solidFill>
                <a:latin typeface="Calibri"/>
              </a:rPr>
              <a:t>▪  </a:t>
            </a:r>
            <a:r>
              <a:rPr sz="2000">
                <a:solidFill>
                  <a:srgbClr val="1A1D29"/>
                </a:solidFill>
                <a:latin typeface="Calibri"/>
              </a:rPr>
              <a:t>An LLM call is 99.9% waiting. You did not go faster; you stopped queueing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3776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75488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 i="0">
                <a:solidFill>
                  <a:srgbClr val="1A1D29"/>
                </a:solidFill>
                <a:latin typeface="Calibri"/>
              </a:rPr>
              <a:t>Four rules on top of gather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98448"/>
            <a:ext cx="914400" cy="38100"/>
          </a:xfrm>
          <a:prstGeom prst="rect">
            <a:avLst/>
          </a:prstGeom>
          <a:solidFill>
            <a:srgbClr val="3776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355080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>
                <a:solidFill>
                  <a:srgbClr val="6B7284"/>
                </a:solidFill>
                <a:latin typeface="Calibri"/>
              </a:rPr>
              <a:t>Module 16.1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07040" y="635508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>
                <a:solidFill>
                  <a:srgbClr val="6B7284"/>
                </a:solidFill>
                <a:latin typeface="Calibri"/>
              </a:rPr>
              <a:t>15 / 20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737360"/>
          <a:ext cx="10881360" cy="26883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40680"/>
                <a:gridCol w="5440680"/>
              </a:tblGrid>
              <a:tr h="384048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Rule</a:t>
                      </a:r>
                    </a:p>
                  </a:txBody>
                  <a:tcPr anchor="ctr">
                    <a:solidFill>
                      <a:srgbClr val="3776A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Why</a:t>
                      </a:r>
                    </a:p>
                  </a:txBody>
                  <a:tcPr anchor="ctr">
                    <a:solidFill>
                      <a:srgbClr val="3776AB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1A1D29"/>
                          </a:solidFill>
                          <a:latin typeface="Calibri"/>
                        </a:rPr>
                        <a:t>Semaphore the concurrency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D29"/>
                          </a:solidFill>
                          <a:latin typeface="Calibri"/>
                        </a:rPr>
                        <a:t>gather over 5000 prompts earns 5000 429s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1A1D29"/>
                          </a:solidFill>
                          <a:latin typeface="Calibri"/>
                        </a:rPr>
                        <a:t>Size it by Little's Law</a:t>
                      </a:r>
                    </a:p>
                  </a:txBody>
                  <a:tcPr anchor="ctr">
                    <a:solidFill>
                      <a:srgbClr val="F6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D29"/>
                          </a:solidFill>
                          <a:latin typeface="Calibri"/>
                        </a:rPr>
                        <a:t>max_conc ~= target_RPS * avg_latency_s</a:t>
                      </a:r>
                    </a:p>
                  </a:txBody>
                  <a:tcPr anchor="ctr">
                    <a:solidFill>
                      <a:srgbClr val="F6F7FB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1A1D29"/>
                          </a:solidFill>
                          <a:latin typeface="Calibri"/>
                        </a:rPr>
                        <a:t>return_exceptions=True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D29"/>
                          </a:solidFill>
                          <a:latin typeface="Calibri"/>
                        </a:rPr>
                        <a:t>one failure must not discard a paid-for batch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1A1D29"/>
                          </a:solidFill>
                          <a:latin typeface="Calibri"/>
                        </a:rPr>
                        <a:t>Backoff WITH full jitter</a:t>
                      </a:r>
                    </a:p>
                  </a:txBody>
                  <a:tcPr anchor="ctr">
                    <a:solidFill>
                      <a:srgbClr val="F6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D29"/>
                          </a:solidFill>
                          <a:latin typeface="Calibri"/>
                        </a:rPr>
                        <a:t>fixed sleeps make 500 workers wake together</a:t>
                      </a:r>
                    </a:p>
                  </a:txBody>
                  <a:tcPr anchor="ctr">
                    <a:solidFill>
                      <a:srgbClr val="F6F7FB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1A1D29"/>
                          </a:solidFill>
                          <a:latin typeface="Calibri"/>
                        </a:rPr>
                        <a:t>Retry 429/5xx, never 400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D29"/>
                          </a:solidFill>
                          <a:latin typeface="Calibri"/>
                        </a:rPr>
                        <a:t>a 400 will be a 400 forever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1A1D29"/>
                          </a:solidFill>
                          <a:latin typeface="Calibri"/>
                        </a:rPr>
                        <a:t>Respect Retry-After</a:t>
                      </a:r>
                    </a:p>
                  </a:txBody>
                  <a:tcPr anchor="ctr">
                    <a:solidFill>
                      <a:srgbClr val="F6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D29"/>
                          </a:solidFill>
                          <a:latin typeface="Calibri"/>
                        </a:rPr>
                        <a:t>the header is the answer; your formula is a guess</a:t>
                      </a:r>
                    </a:p>
                  </a:txBody>
                  <a:tcPr anchor="ctr">
                    <a:solidFill>
                      <a:srgbClr val="F6F7F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3776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75488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 i="0">
                <a:solidFill>
                  <a:srgbClr val="1A1D29"/>
                </a:solidFill>
                <a:latin typeface="Calibri"/>
              </a:rPr>
              <a:t>Concurrency vs parallelism, and the GIL in 2026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98448"/>
            <a:ext cx="914400" cy="38100"/>
          </a:xfrm>
          <a:prstGeom prst="rect">
            <a:avLst/>
          </a:prstGeom>
          <a:solidFill>
            <a:srgbClr val="3776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355080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>
                <a:solidFill>
                  <a:srgbClr val="6B7284"/>
                </a:solidFill>
                <a:latin typeface="Calibri"/>
              </a:rPr>
              <a:t>Module 16.1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07040" y="635508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>
                <a:solidFill>
                  <a:srgbClr val="6B7284"/>
                </a:solidFill>
                <a:latin typeface="Calibri"/>
              </a:rPr>
              <a:t>16 / 20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691640"/>
            <a:ext cx="10881360" cy="4480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300"/>
              </a:spcAft>
            </a:pPr>
            <a:r>
              <a:rPr sz="1700">
                <a:solidFill>
                  <a:srgbClr val="3776AB"/>
                </a:solidFill>
                <a:latin typeface="Calibri"/>
              </a:rPr>
              <a:t>▪  </a:t>
            </a:r>
            <a:r>
              <a:rPr sz="1700">
                <a:solidFill>
                  <a:srgbClr val="1A1D29"/>
                </a:solidFill>
                <a:latin typeface="Calibri"/>
              </a:rPr>
              <a:t>asyncio: IO-bound work, one thread, thousands of waits. Your default</a:t>
            </a:r>
          </a:p>
          <a:p>
            <a:pPr>
              <a:spcAft>
                <a:spcPts val="1300"/>
              </a:spcAft>
            </a:pPr>
            <a:r>
              <a:rPr sz="1700">
                <a:solidFill>
                  <a:srgbClr val="3776AB"/>
                </a:solidFill>
                <a:latin typeface="Calibri"/>
              </a:rPr>
              <a:t>▪  </a:t>
            </a:r>
            <a:r>
              <a:rPr sz="1700">
                <a:solidFill>
                  <a:srgbClr val="1A1D29"/>
                </a:solidFill>
                <a:latin typeface="Calibri"/>
              </a:rPr>
              <a:t>threads: help when the GIL is released -- NumPy, torch, IO all do</a:t>
            </a:r>
          </a:p>
          <a:p>
            <a:pPr>
              <a:spcAft>
                <a:spcPts val="1300"/>
              </a:spcAft>
            </a:pPr>
            <a:r>
              <a:rPr sz="1700">
                <a:solidFill>
                  <a:srgbClr val="3776AB"/>
                </a:solidFill>
                <a:latin typeface="Calibri"/>
              </a:rPr>
              <a:t>▪  </a:t>
            </a:r>
            <a:r>
              <a:rPr sz="1700">
                <a:solidFill>
                  <a:srgbClr val="1A1D29"/>
                </a:solidFill>
                <a:latin typeface="Calibri"/>
              </a:rPr>
              <a:t>processes: true parallelism for pure-Python CPU. Pays a pickling tax</a:t>
            </a:r>
          </a:p>
          <a:p>
            <a:pPr>
              <a:spcAft>
                <a:spcPts val="1300"/>
              </a:spcAft>
            </a:pPr>
            <a:r>
              <a:rPr sz="1700">
                <a:solidFill>
                  <a:srgbClr val="3776AB"/>
                </a:solidFill>
                <a:latin typeface="Calibri"/>
              </a:rPr>
              <a:t>▪  </a:t>
            </a:r>
            <a:r>
              <a:rPr sz="1700">
                <a:solidFill>
                  <a:srgbClr val="1A1D29"/>
                </a:solidFill>
                <a:latin typeface="Calibri"/>
              </a:rPr>
              <a:t>PEP 703 free-threaded build: experimental in 3.13, supported in 3.14</a:t>
            </a:r>
          </a:p>
          <a:p>
            <a:pPr>
              <a:spcAft>
                <a:spcPts val="1300"/>
              </a:spcAft>
            </a:pPr>
            <a:r>
              <a:rPr sz="1700">
                <a:solidFill>
                  <a:srgbClr val="3776AB"/>
                </a:solidFill>
                <a:latin typeface="Calibri"/>
              </a:rPr>
              <a:t>▪  </a:t>
            </a:r>
            <a:r>
              <a:rPr sz="1700">
                <a:solidFill>
                  <a:srgbClr val="1A1D29"/>
                </a:solidFill>
                <a:latin typeface="Calibri"/>
              </a:rPr>
              <a:t>Still not the default interpreter. Assume the GIL; benchmark before switching</a:t>
            </a:r>
          </a:p>
          <a:p>
            <a:pPr>
              <a:spcAft>
                <a:spcPts val="1300"/>
              </a:spcAft>
            </a:pPr>
            <a:r>
              <a:rPr sz="1700">
                <a:solidFill>
                  <a:srgbClr val="3776AB"/>
                </a:solidFill>
                <a:latin typeface="Calibri"/>
              </a:rPr>
              <a:t>▪  </a:t>
            </a:r>
            <a:r>
              <a:rPr sz="1700">
                <a:solidFill>
                  <a:srgbClr val="1A1D29"/>
                </a:solidFill>
                <a:latin typeface="Calibri"/>
              </a:rPr>
              <a:t>None of it matters for LLM calls -- you are blocked on a socket, not bytecode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3776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75488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 i="0">
                <a:solidFill>
                  <a:srgbClr val="1A1D29"/>
                </a:solidFill>
                <a:latin typeface="Calibri"/>
              </a:rPr>
              <a:t>Never block the event loop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98448"/>
            <a:ext cx="914400" cy="38100"/>
          </a:xfrm>
          <a:prstGeom prst="rect">
            <a:avLst/>
          </a:prstGeom>
          <a:solidFill>
            <a:srgbClr val="3776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355080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>
                <a:solidFill>
                  <a:srgbClr val="6B7284"/>
                </a:solidFill>
                <a:latin typeface="Calibri"/>
              </a:rPr>
              <a:t>Module 16.1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07040" y="635508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>
                <a:solidFill>
                  <a:srgbClr val="6B7284"/>
                </a:solidFill>
                <a:latin typeface="Calibri"/>
              </a:rPr>
              <a:t>17 / 20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691640"/>
            <a:ext cx="10881360" cy="4480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300"/>
              </a:spcAft>
            </a:pPr>
            <a:r>
              <a:rPr sz="1700">
                <a:solidFill>
                  <a:srgbClr val="3776AB"/>
                </a:solidFill>
                <a:latin typeface="Calibri"/>
              </a:rPr>
              <a:t>▪  </a:t>
            </a:r>
            <a:r>
              <a:rPr sz="1700">
                <a:solidFill>
                  <a:srgbClr val="1A1D29"/>
                </a:solidFill>
                <a:latin typeface="Calibri"/>
              </a:rPr>
              <a:t>time.sleep, requests.get, a tight loop, json.loads on 50 MB -- all freeze it</a:t>
            </a:r>
          </a:p>
          <a:p>
            <a:pPr>
              <a:spcAft>
                <a:spcPts val="1300"/>
              </a:spcAft>
            </a:pPr>
            <a:r>
              <a:rPr sz="1700">
                <a:solidFill>
                  <a:srgbClr val="3776AB"/>
                </a:solidFill>
                <a:latin typeface="Calibri"/>
              </a:rPr>
              <a:t>▪  </a:t>
            </a:r>
            <a:r>
              <a:rPr sz="1700">
                <a:solidFill>
                  <a:srgbClr val="1A1D29"/>
                </a:solidFill>
                <a:latin typeface="Calibri"/>
              </a:rPr>
              <a:t>Measured: 8 x 0.15s awaiting = 0.15s; 8 x 0.15s spinning = 1.20s</a:t>
            </a:r>
          </a:p>
          <a:p>
            <a:pPr>
              <a:spcAft>
                <a:spcPts val="1300"/>
              </a:spcAft>
            </a:pPr>
            <a:r>
              <a:rPr sz="1700">
                <a:solidFill>
                  <a:srgbClr val="3776AB"/>
                </a:solidFill>
                <a:latin typeface="Calibri"/>
              </a:rPr>
              <a:t>▪  </a:t>
            </a:r>
            <a:r>
              <a:rPr sz="1700">
                <a:solidFill>
                  <a:srgbClr val="1A1D29"/>
                </a:solidFill>
                <a:latin typeface="Calibri"/>
              </a:rPr>
              <a:t>Fix: await asyncio.to_thread(fn) or a ProcessPoolExecutor</a:t>
            </a:r>
          </a:p>
          <a:p>
            <a:pPr>
              <a:spcAft>
                <a:spcPts val="1300"/>
              </a:spcAft>
            </a:pPr>
            <a:r>
              <a:rPr sz="1700">
                <a:solidFill>
                  <a:srgbClr val="3776AB"/>
                </a:solidFill>
                <a:latin typeface="Calibri"/>
              </a:rPr>
              <a:t>▪  </a:t>
            </a:r>
            <a:r>
              <a:rPr sz="1700">
                <a:solidFill>
                  <a:srgbClr val="1A1D29"/>
                </a:solidFill>
                <a:latin typeface="Calibri"/>
              </a:rPr>
              <a:t>One httpx.AsyncClient per process, not per request (TLS reuse)</a:t>
            </a:r>
          </a:p>
          <a:p>
            <a:pPr>
              <a:spcAft>
                <a:spcPts val="1300"/>
              </a:spcAft>
            </a:pPr>
            <a:r>
              <a:rPr sz="1700">
                <a:solidFill>
                  <a:srgbClr val="3776AB"/>
                </a:solidFill>
                <a:latin typeface="Calibri"/>
              </a:rPr>
              <a:t>▪  </a:t>
            </a:r>
            <a:r>
              <a:rPr sz="1700">
                <a:solidFill>
                  <a:srgbClr val="1A1D29"/>
                </a:solidFill>
                <a:latin typeface="Calibri"/>
              </a:rPr>
              <a:t>Set a read timeout that fits your longest generation, not the default</a:t>
            </a:r>
          </a:p>
          <a:p>
            <a:pPr>
              <a:spcAft>
                <a:spcPts val="1300"/>
              </a:spcAft>
            </a:pPr>
            <a:r>
              <a:rPr sz="1700">
                <a:solidFill>
                  <a:srgbClr val="3776AB"/>
                </a:solidFill>
                <a:latin typeface="Calibri"/>
              </a:rPr>
              <a:t>▪  </a:t>
            </a:r>
            <a:r>
              <a:rPr sz="1700">
                <a:solidFill>
                  <a:srgbClr val="1A1D29"/>
                </a:solidFill>
                <a:latin typeface="Calibri"/>
              </a:rPr>
              <a:t>Check your SDK's built-in retries -- 3 x 3 = 9 calls per request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3776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75488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 i="0">
                <a:solidFill>
                  <a:srgbClr val="1A1D29"/>
                </a:solidFill>
                <a:latin typeface="Calibri"/>
              </a:rPr>
              <a:t>Idioms that bite AI engineers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98448"/>
            <a:ext cx="914400" cy="38100"/>
          </a:xfrm>
          <a:prstGeom prst="rect">
            <a:avLst/>
          </a:prstGeom>
          <a:solidFill>
            <a:srgbClr val="3776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355080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>
                <a:solidFill>
                  <a:srgbClr val="6B7284"/>
                </a:solidFill>
                <a:latin typeface="Calibri"/>
              </a:rPr>
              <a:t>Module 16.1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07040" y="635508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>
                <a:solidFill>
                  <a:srgbClr val="6B7284"/>
                </a:solidFill>
                <a:latin typeface="Calibri"/>
              </a:rPr>
              <a:t>18 / 20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737360"/>
          <a:ext cx="10881360" cy="26883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40680"/>
                <a:gridCol w="5440680"/>
              </a:tblGrid>
              <a:tr h="384048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Idiom</a:t>
                      </a:r>
                    </a:p>
                  </a:txBody>
                  <a:tcPr anchor="ctr">
                    <a:solidFill>
                      <a:srgbClr val="3776A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What it costs you</a:t>
                      </a:r>
                    </a:p>
                  </a:txBody>
                  <a:tcPr anchor="ctr">
                    <a:solidFill>
                      <a:srgbClr val="3776AB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1A1D29"/>
                          </a:solidFill>
                          <a:latin typeface="Calibri"/>
                        </a:rPr>
                        <a:t>Mutable default arg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D29"/>
                          </a:solidFill>
                          <a:latin typeface="Calibri"/>
                        </a:rPr>
                        <a:t>conversation history bleeds between users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1A1D29"/>
                          </a:solidFill>
                          <a:latin typeface="Calibri"/>
                        </a:rPr>
                        <a:t>Closure late binding</a:t>
                      </a:r>
                    </a:p>
                  </a:txBody>
                  <a:tcPr anchor="ctr">
                    <a:solidFill>
                      <a:srgbClr val="F6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D29"/>
                          </a:solidFill>
                          <a:latin typeface="Calibri"/>
                        </a:rPr>
                        <a:t>100 deferred calls all use the last prompt</a:t>
                      </a:r>
                    </a:p>
                  </a:txBody>
                  <a:tcPr anchor="ctr">
                    <a:solidFill>
                      <a:srgbClr val="F6F7FB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1A1D29"/>
                          </a:solidFill>
                          <a:latin typeface="Calibri"/>
                        </a:rPr>
                        <a:t>Float equality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D29"/>
                          </a:solidFill>
                          <a:latin typeface="Calibri"/>
                        </a:rPr>
                        <a:t>similarity assertions that fail on another CPU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1A1D29"/>
                          </a:solidFill>
                          <a:latin typeface="Calibri"/>
                        </a:rPr>
                        <a:t>Silent broadcasting</a:t>
                      </a:r>
                    </a:p>
                  </a:txBody>
                  <a:tcPr anchor="ctr">
                    <a:solidFill>
                      <a:srgbClr val="F6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D29"/>
                          </a:solidFill>
                          <a:latin typeface="Calibri"/>
                        </a:rPr>
                        <a:t>no error, no warning, wrong numbers</a:t>
                      </a:r>
                    </a:p>
                  </a:txBody>
                  <a:tcPr anchor="ctr">
                    <a:solidFill>
                      <a:srgbClr val="F6F7FB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1A1D29"/>
                          </a:solidFill>
                          <a:latin typeface="Calibri"/>
                        </a:rPr>
                        <a:t>pickle.load on untrusted data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D29"/>
                          </a:solidFill>
                          <a:latin typeface="Calibri"/>
                        </a:rPr>
                        <a:t>arbitrary code execution from a model hub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1A1D29"/>
                          </a:solidFill>
                          <a:latin typeface="Calibri"/>
                        </a:rPr>
                        <a:t>Bare except:</a:t>
                      </a:r>
                    </a:p>
                  </a:txBody>
                  <a:tcPr anchor="ctr">
                    <a:solidFill>
                      <a:srgbClr val="F6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D29"/>
                          </a:solidFill>
                          <a:latin typeface="Calibri"/>
                        </a:rPr>
                        <a:t>your eval job becomes un-killable</a:t>
                      </a:r>
                    </a:p>
                  </a:txBody>
                  <a:tcPr anchor="ctr">
                    <a:solidFill>
                      <a:srgbClr val="F6F7F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3776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75488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 i="0">
                <a:solidFill>
                  <a:srgbClr val="1A1D29"/>
                </a:solidFill>
                <a:latin typeface="Calibri"/>
              </a:rPr>
              <a:t>Testing code that calls a nondeterministic thing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98448"/>
            <a:ext cx="914400" cy="38100"/>
          </a:xfrm>
          <a:prstGeom prst="rect">
            <a:avLst/>
          </a:prstGeom>
          <a:solidFill>
            <a:srgbClr val="3776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355080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>
                <a:solidFill>
                  <a:srgbClr val="6B7284"/>
                </a:solidFill>
                <a:latin typeface="Calibri"/>
              </a:rPr>
              <a:t>Module 16.1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07040" y="635508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>
                <a:solidFill>
                  <a:srgbClr val="6B7284"/>
                </a:solidFill>
                <a:latin typeface="Calibri"/>
              </a:rPr>
              <a:t>19 / 20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691640"/>
            <a:ext cx="10881360" cy="4480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300"/>
              </a:spcAft>
            </a:pPr>
            <a:r>
              <a:rPr sz="1700">
                <a:solidFill>
                  <a:srgbClr val="3776AB"/>
                </a:solidFill>
                <a:latin typeface="Calibri"/>
              </a:rPr>
              <a:t>▪  </a:t>
            </a:r>
            <a:r>
              <a:rPr sz="1700">
                <a:solidFill>
                  <a:srgbClr val="1A1D29"/>
                </a:solidFill>
                <a:latin typeface="Calibri"/>
              </a:rPr>
              <a:t>No network in the default run. Mark live tests and deselect them</a:t>
            </a:r>
          </a:p>
          <a:p>
            <a:pPr>
              <a:spcAft>
                <a:spcPts val="1300"/>
              </a:spcAft>
            </a:pPr>
            <a:r>
              <a:rPr sz="1700">
                <a:solidFill>
                  <a:srgbClr val="3776AB"/>
                </a:solidFill>
                <a:latin typeface="Calibri"/>
              </a:rPr>
              <a:t>▪  </a:t>
            </a:r>
            <a:r>
              <a:rPr sz="1700">
                <a:solidFill>
                  <a:srgbClr val="1A1D29"/>
                </a:solidFill>
                <a:latin typeface="Calibri"/>
              </a:rPr>
              <a:t>Mock at the CLIENT boundary via Protocol, not at the HTTP layer</a:t>
            </a:r>
          </a:p>
          <a:p>
            <a:pPr>
              <a:spcAft>
                <a:spcPts val="1300"/>
              </a:spcAft>
            </a:pPr>
            <a:r>
              <a:rPr sz="1700">
                <a:solidFill>
                  <a:srgbClr val="3776AB"/>
                </a:solidFill>
                <a:latin typeface="Calibri"/>
              </a:rPr>
              <a:t>▪  </a:t>
            </a:r>
            <a:r>
              <a:rPr sz="1700">
                <a:solidFill>
                  <a:srgbClr val="1A1D29"/>
                </a:solidFill>
                <a:latin typeface="Calibri"/>
              </a:rPr>
              <a:t>Test against BAD output: truncated, fenced, hallucinated enums</a:t>
            </a:r>
          </a:p>
          <a:p>
            <a:pPr>
              <a:spcAft>
                <a:spcPts val="1300"/>
              </a:spcAft>
            </a:pPr>
            <a:r>
              <a:rPr sz="1700">
                <a:solidFill>
                  <a:srgbClr val="3776AB"/>
                </a:solidFill>
                <a:latin typeface="Calibri"/>
              </a:rPr>
              <a:t>▪  </a:t>
            </a:r>
            <a:r>
              <a:rPr sz="1700">
                <a:solidFill>
                  <a:srgbClr val="1A1D29"/>
                </a:solidFill>
                <a:latin typeface="Calibri"/>
              </a:rPr>
              <a:t>Seed everything -- and know temperature=0 is still not determinism</a:t>
            </a:r>
          </a:p>
          <a:p>
            <a:pPr>
              <a:spcAft>
                <a:spcPts val="1300"/>
              </a:spcAft>
            </a:pPr>
            <a:r>
              <a:rPr sz="1700">
                <a:solidFill>
                  <a:srgbClr val="3776AB"/>
                </a:solidFill>
                <a:latin typeface="Calibri"/>
              </a:rPr>
              <a:t>▪  </a:t>
            </a:r>
            <a:r>
              <a:rPr sz="1700">
                <a:solidFill>
                  <a:srgbClr val="1A1D29"/>
                </a:solidFill>
                <a:latin typeface="Calibri"/>
              </a:rPr>
              <a:t>Assert tolerances and properties, not exact strings</a:t>
            </a:r>
          </a:p>
          <a:p>
            <a:pPr>
              <a:spcAft>
                <a:spcPts val="1300"/>
              </a:spcAft>
            </a:pPr>
            <a:r>
              <a:rPr sz="1700">
                <a:solidFill>
                  <a:srgbClr val="3776AB"/>
                </a:solidFill>
                <a:latin typeface="Calibri"/>
              </a:rPr>
              <a:t>▪  </a:t>
            </a:r>
            <a:r>
              <a:rPr sz="1700">
                <a:solidFill>
                  <a:srgbClr val="1A1D29"/>
                </a:solidFill>
                <a:latin typeface="Calibri"/>
              </a:rPr>
              <a:t>Snapshot the rendered PROMPT, not the completion. Keep it under 5 seconds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3776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75488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 i="0">
                <a:solidFill>
                  <a:srgbClr val="1A1D29"/>
                </a:solidFill>
                <a:latin typeface="Calibri"/>
              </a:rPr>
              <a:t>Your exit check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98448"/>
            <a:ext cx="914400" cy="38100"/>
          </a:xfrm>
          <a:prstGeom prst="rect">
            <a:avLst/>
          </a:prstGeom>
          <a:solidFill>
            <a:srgbClr val="3776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355080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>
                <a:solidFill>
                  <a:srgbClr val="6B7284"/>
                </a:solidFill>
                <a:latin typeface="Calibri"/>
              </a:rPr>
              <a:t>Module 16.1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07040" y="635508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>
                <a:solidFill>
                  <a:srgbClr val="6B7284"/>
                </a:solidFill>
                <a:latin typeface="Calibri"/>
              </a:rPr>
              <a:t>20 / 20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691640"/>
            <a:ext cx="10881360" cy="4480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300"/>
              </a:spcAft>
            </a:pPr>
            <a:r>
              <a:rPr sz="1700">
                <a:solidFill>
                  <a:srgbClr val="3776AB"/>
                </a:solidFill>
                <a:latin typeface="Calibri"/>
              </a:rPr>
              <a:t>▪  </a:t>
            </a:r>
            <a:r>
              <a:rPr sz="1700">
                <a:solidFill>
                  <a:srgbClr val="1A1D29"/>
                </a:solidFill>
                <a:latin typeface="Calibri"/>
              </a:rPr>
              <a:t>A repo that installs with one uv sync, clean on ruff and mypy</a:t>
            </a:r>
          </a:p>
          <a:p>
            <a:pPr>
              <a:spcAft>
                <a:spcPts val="1300"/>
              </a:spcAft>
            </a:pPr>
            <a:r>
              <a:rPr sz="1700">
                <a:solidFill>
                  <a:srgbClr val="3776AB"/>
                </a:solidFill>
                <a:latin typeface="Calibri"/>
              </a:rPr>
              <a:t>▪  </a:t>
            </a:r>
            <a:r>
              <a:rPr sz="1700">
                <a:solidFill>
                  <a:srgbClr val="1A1D29"/>
                </a:solidFill>
                <a:latin typeface="Calibri"/>
              </a:rPr>
              <a:t>pytest under 5 seconds, LLM client mocked, zero network</a:t>
            </a:r>
          </a:p>
          <a:p>
            <a:pPr>
              <a:spcAft>
                <a:spcPts val="1300"/>
              </a:spcAft>
            </a:pPr>
            <a:r>
              <a:rPr sz="1700">
                <a:solidFill>
                  <a:srgbClr val="3776AB"/>
                </a:solidFill>
                <a:latin typeface="Calibri"/>
              </a:rPr>
              <a:t>▪  </a:t>
            </a:r>
            <a:r>
              <a:rPr sz="1700">
                <a:solidFill>
                  <a:srgbClr val="1A1D29"/>
                </a:solidFill>
                <a:latin typeface="Calibri"/>
              </a:rPr>
              <a:t>Pydantic-validated structured output with a bounded repair loop</a:t>
            </a:r>
          </a:p>
          <a:p>
            <a:pPr>
              <a:spcAft>
                <a:spcPts val="1300"/>
              </a:spcAft>
            </a:pPr>
            <a:r>
              <a:rPr sz="1700">
                <a:solidFill>
                  <a:srgbClr val="3776AB"/>
                </a:solidFill>
                <a:latin typeface="Calibri"/>
              </a:rPr>
              <a:t>▪  </a:t>
            </a:r>
            <a:r>
              <a:rPr sz="1700">
                <a:solidFill>
                  <a:srgbClr val="1A1D29"/>
                </a:solidFill>
                <a:latin typeface="Calibri"/>
              </a:rPr>
              <a:t>Model calls batched with gather under an explicit semaphore</a:t>
            </a:r>
          </a:p>
          <a:p>
            <a:pPr>
              <a:spcAft>
                <a:spcPts val="1300"/>
              </a:spcAft>
            </a:pPr>
            <a:r>
              <a:rPr sz="1700">
                <a:solidFill>
                  <a:srgbClr val="3776AB"/>
                </a:solidFill>
                <a:latin typeface="Calibri"/>
              </a:rPr>
              <a:t>▪  </a:t>
            </a:r>
            <a:r>
              <a:rPr sz="1700">
                <a:solidFill>
                  <a:srgbClr val="1A1D29"/>
                </a:solidFill>
                <a:latin typeface="Calibri"/>
              </a:rPr>
              <a:t>Run all three scripts in code/ -- they need no API key</a:t>
            </a:r>
          </a:p>
          <a:p>
            <a:pPr>
              <a:spcAft>
                <a:spcPts val="1300"/>
              </a:spcAft>
            </a:pPr>
            <a:r>
              <a:rPr sz="1700">
                <a:solidFill>
                  <a:srgbClr val="3776AB"/>
                </a:solidFill>
                <a:latin typeface="Calibri"/>
              </a:rPr>
              <a:t>▪  </a:t>
            </a:r>
            <a:r>
              <a:rPr sz="1700">
                <a:solidFill>
                  <a:srgbClr val="1A1D29"/>
                </a:solidFill>
                <a:latin typeface="Calibri"/>
              </a:rPr>
              <a:t>Then: the TypeScript track, or straight into LangChain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75704"/>
            <a:ext cx="12191695" cy="82296"/>
          </a:xfrm>
          <a:prstGeom prst="rect">
            <a:avLst/>
          </a:prstGeom>
          <a:solidFill>
            <a:srgbClr val="3776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2468880"/>
            <a:ext cx="10058400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600"/>
              </a:spcAft>
            </a:pPr>
            <a:r>
              <a:rPr sz="4400" b="1" i="0">
                <a:solidFill>
                  <a:srgbClr val="1A1D29"/>
                </a:solidFill>
                <a:latin typeface="Calibri"/>
              </a:rPr>
              <a:t>Now go build.</a:t>
            </a:r>
          </a:p>
          <a:p>
            <a:pPr algn="l">
              <a:spcAft>
                <a:spcPts val="800"/>
              </a:spcAft>
            </a:pPr>
            <a:r>
              <a:rPr sz="1800" b="0" i="0">
                <a:solidFill>
                  <a:srgbClr val="6B7284"/>
                </a:solidFill>
                <a:latin typeface="Calibri"/>
              </a:rPr>
              <a:t>code/ — run it   ·   lab/EXERCISES.md — break it   ·   papers/ — go deeper</a:t>
            </a:r>
          </a:p>
          <a:p>
            <a:pPr algn="l">
              <a:spcAft>
                <a:spcPts val="600"/>
              </a:spcAft>
            </a:pPr>
            <a:r>
              <a:rPr sz="1400" b="1" i="0">
                <a:solidFill>
                  <a:srgbClr val="3776AB"/>
                </a:solidFill>
                <a:latin typeface="Calibri"/>
              </a:rPr>
              <a:t>AI End-to-End Learning Track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