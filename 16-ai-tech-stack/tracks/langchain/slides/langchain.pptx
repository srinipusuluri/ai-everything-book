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the tone: opinionated and current, not a fan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single most important slide in the deck. Say it before anything else lands.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By mid-2024 the monolith had 700+ integrations; one broken dep bumped the whole ecosystem. The split gave langchain-core a real stability promise.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v1 reduced langchain's namespace to agents/messages/tools/chat_models/embeddings. Verify with pkgutil.iter_modules yourself.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code/fakes.py implements this from scratch -- read it before the demos so the free behaviour isn't magic.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That last bullet is the boundary that sends people to LangGraph. Flag it early.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where 'the agent is unreliable' complaints actually originate -- in unhandled tool-call edge cases, not the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demo hallucination is deliberate: confident wrong answers are the default failure mode of naive RAG, not an edge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debugging playbook in notes/02 walks each of these with the actual trace to look for.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Cross-reference ../../../13-ai-security/ explicitly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natural bridge to ../langgraph/. Say the decision rule out 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74920"/>
            <a:ext cx="12191695" cy="1783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MODULE 16.3</a:t>
            </a:r>
          </a:p>
          <a:p>
            <a:pPr algn="l">
              <a:spcAft>
                <a:spcPts val="1000"/>
              </a:spcAft>
            </a:pPr>
            <a:r>
              <a:rPr sz="5400" b="1" i="0">
                <a:solidFill>
                  <a:srgbClr val="FFFFFF"/>
                </a:solidFill>
                <a:latin typeface="Calibri"/>
              </a:rPr>
              <a:t>LangChain</a:t>
            </a:r>
          </a:p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E8EAF2"/>
                </a:solidFill>
                <a:latin typeface="Calibri"/>
              </a:rPr>
              <a:t>What it actually gives you, and when to skip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53212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C3C3C"/>
                </a:solidFill>
                <a:latin typeface="Calibri"/>
              </a:rPr>
              <a:t>AI End-to-End Learning Track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6B7284"/>
                </a:solidFill>
                <a:latin typeface="Calibri"/>
              </a:rPr>
              <a:t>Notes · Code · Labs · Papers — see the module README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What LangChain is for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1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16.3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 /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1C3C3C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A common interface (Runnable) over chat models, retrievers and tools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1C3C3C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LCEL: compose those interfaces with | instead of hand-wiring calls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1C3C3C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The value is the INTERFACE, not the chains -- that is why langchain-core is stable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1C3C3C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It rewrote itself twice while people were forming opinions about it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1C3C3C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This track teaches the current 1.x package layout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When NOT to use it -- read this twice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1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16.3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2 / 17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10881360" cy="155448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37360"/>
            <a:ext cx="63500" cy="1554480"/>
          </a:xfrm>
          <a:prstGeom prst="rect">
            <a:avLst/>
          </a:prstGeom>
          <a:solidFill>
            <a:srgbClr val="1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965960"/>
            <a:ext cx="1014984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1">
                <a:solidFill>
                  <a:srgbClr val="1A1D29"/>
                </a:solidFill>
                <a:latin typeface="Calibri"/>
              </a:rPr>
              <a:t>If your app is one prompt, one model, parse the answer: the provider SDK does it in ~10 lines with no release notes.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611880"/>
            <a:ext cx="108813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100"/>
              </a:spcAft>
            </a:pPr>
            <a:r>
              <a:rPr sz="1700">
                <a:solidFill>
                  <a:srgbClr val="1C3C3C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A framework around one API call buys a pip tree and an upgrade obligation</a:t>
            </a:r>
          </a:p>
          <a:p>
            <a:pPr>
              <a:spcAft>
                <a:spcPts val="1100"/>
              </a:spcAft>
            </a:pPr>
            <a:r>
              <a:rPr sz="1700">
                <a:solidFill>
                  <a:srgbClr val="1C3C3C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Failing chains produce a traceback through 4 layers before your bug</a:t>
            </a:r>
          </a:p>
          <a:p>
            <a:pPr>
              <a:spcAft>
                <a:spcPts val="1100"/>
              </a:spcAft>
            </a:pPr>
            <a:r>
              <a:rPr sz="1700">
                <a:solidFill>
                  <a:srgbClr val="1C3C3C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Opaque BY DEFAULT -- turning on a tracer is your job, not optional</a:t>
            </a:r>
          </a:p>
          <a:p>
            <a:pPr>
              <a:spcAft>
                <a:spcPts val="1100"/>
              </a:spcAft>
            </a:pPr>
            <a:r>
              <a:rPr sz="1700">
                <a:solidFill>
                  <a:srgbClr val="1C3C3C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Worst outcome: a 5-layer RunnableSequence wrapping one messages.create()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The package split, and why it happened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1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16.3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3 /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1C3C3C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langchain-core: interfaces, Runnable, LCEL, messages -- ZERO heavy deps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1C3C3C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langchain: create_agent, middleware, init_chat_model (built on langgraph)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1C3C3C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langgraph: the runtime -- graphs, state, checkpointers, durable execution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1C3C3C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langchain-community: the long tail, community-maintained, uneven quality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1C3C3C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langchain-classic: v0 chains and retrievers -- frozen, a migration you owe yourself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The stability story, honestly stated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1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16.3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4 / 17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737360"/>
          <a:ext cx="1088136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Package</a:t>
                      </a:r>
                    </a:p>
                  </a:txBody>
                  <a:tcPr anchor="ctr">
                    <a:solidFill>
                      <a:srgbClr val="1C3C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Stability</a:t>
                      </a:r>
                    </a:p>
                  </a:txBody>
                  <a:tcPr anchor="ctr">
                    <a:solidFill>
                      <a:srgbClr val="1C3C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What it means for you</a:t>
                      </a:r>
                    </a:p>
                  </a:txBody>
                  <a:tcPr anchor="ctr">
                    <a:solidFill>
                      <a:srgbClr val="1C3C3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langchain-core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strong, major-version only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depend on it freely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langchain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strong since 1.0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pin a major, read changelogs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provider packages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follows the provider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pin a minor if you care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langchain-community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weakest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read the source before shipping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langchain-classic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frozen-ish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a migration, not a home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Runnable: the one interface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1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16.3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5 /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1C3C3C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invoke / batch / stream / ainvoke / abatch / astream -- one contract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1C3C3C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Implement a BaseChatModel subclass and ALL of these work for free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1C3C3C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with_retry(), with_fallbacks(), configurable_fields() -- also free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1C3C3C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This is the actual value of the framework: write once, get 6 execution modes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LCEL: composition, not a DSL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1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16.3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6 /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1C3C3C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prompt | model | parser -- the pipe composes Runnables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1C3C3C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RunnableParallel -- fan out to several branches, merge the dict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1C3C3C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RunnablePassthrough.assign -- carry the original input alongside a derived field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1C3C3C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with_retry / with_fallbacks -- resilience as composition, not boilerplate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1C3C3C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Be precise: LCEL composes STEPS; it is not how you build agent CONTROL FLOW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Messages, prompts, parsers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1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16.3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7 /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1C3C3C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Messages: System / Human / AI / Tool -- one typed vocabulary across providers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1C3C3C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Prompt templates: parameterised, composable, testable in isolation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1C3C3C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Output parsers exist, but prefer with_structured_output() when you can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1C3C3C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Structured output uses the provider's native tool-calling under the hood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1C3C3C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A parser is a regression waiting to happen; a schema is a contract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Tools: bind, call, handle failure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1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16.3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8 /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1C3C3C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bind_tools() attaches schemas; the model decides whether to call one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1C3C3C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Handle a HALLUCINATED tool name -- the model can invent one that doesn't exist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1C3C3C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Handle schema-invalid arguments -- validate before you execute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1C3C3C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Raise ToolException deliberately so the loop can recover, not crash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1C3C3C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code/tools_and_structured_output.py implements this loop by hand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Retrieval, assembled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1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16.3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9 /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1C3C3C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loader -&gt; splitter -&gt; embeddings -&gt; vector store -&gt; retriever -&gt; prompt -&gt; model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1C3C3C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Every stage is a Runnable; the whole chain composes with the same pipe operator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1C3C3C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code/mini_rag_chain.py builds this fully offline with a hash-based embedding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1C3C3C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It also demonstrates a GROUNDED-LOOKING hallucination on an out-of-corpus question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1C3C3C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Retrieval quality itself -- chunking, hybrid search, reranking -- is Module 08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651760"/>
            <a:ext cx="100584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4400" b="1" i="0">
                <a:solidFill>
                  <a:srgbClr val="1A1D29"/>
                </a:solidFill>
                <a:latin typeface="Calibri"/>
              </a:rPr>
              <a:t>Running it in production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6B7284"/>
                </a:solidFill>
                <a:latin typeface="Calibri"/>
              </a:rPr>
              <a:t>Memory, streaming, cost, debugging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Memory: the part that aged worst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1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16.3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11 /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1C3C3C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Old ConversationBufferMemory-style classes are legacy -- state lives in your app now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1C3C3C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Four pitfalls: unbounded history, silent truncation, no summarisation strategy,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1C3C3C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  - confusing 'memory' (recall) with 'context' (what's in the prompt right now)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1C3C3C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Plan message-history storage and trimming yourself; do not expect a class to do it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Streaming and cost accounting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1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16.3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12 /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1C3C3C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Measure time-to-first-token -- or don't bother measuring streaming at all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1C3C3C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Callbacks are how you get token counts and cost attribution mid-chain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1C3C3C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Caching means two different things: prompt/response cache vs. provider prompt caching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1C3C3C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Confusing the two produces a 'caching is on' bug report that caching cannot fix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Failure modes and what they actually mean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1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16.3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13 / 17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737360"/>
          <a:ext cx="1088136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0680"/>
                <a:gridCol w="5440680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Symptom</a:t>
                      </a:r>
                    </a:p>
                  </a:txBody>
                  <a:tcPr anchor="ctr">
                    <a:solidFill>
                      <a:srgbClr val="1C3C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Likely cause</a:t>
                      </a:r>
                    </a:p>
                  </a:txBody>
                  <a:tcPr anchor="ctr">
                    <a:solidFill>
                      <a:srgbClr val="1C3C3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Silent wrong answers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no tracer attached -- turn on set_debug or LangSmith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Cost 38x higher than expected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a model swap bundled with an unrelated prompt change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Works once, fails in a loop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unbounded history growing the prompt every turn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JSON parse errors intermittently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using a text parser instead of with_structured_output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Retries hang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with_retry without a fallback or a timeout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Security notes specific to this framework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1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16.3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14 /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1C3C3C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community loaders and tools run arbitrary code paths you did not write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1C3C3C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Read the source of any langchain-community integration before enabling it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1C3C3C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Untrusted retrieved text still shares a channel with your instructions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1C3C3C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Prompt injection risk is not solved by the framework -- see Module 13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When to graduate to LangGraph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1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16.3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15 /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1C3C3C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You need a LOOP: retry, re-plan, or call an agent more than once per turn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1C3C3C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You need branching control flow the pipe operator cannot express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1C3C3C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You need persistence: pause, resume, human approval, time travel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1C3C3C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You are hand-rolling a while-loop around an LLM call -- that loop IS a graph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1C3C3C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LCEL for pipelines. LangGraph for anything with a cycle or a checkpoint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A pre-ship checklist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1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16.3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16 /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1C3C3C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A tracer is attached in every environment, not just locally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1C3C3C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Every tool call handles a hallucinated name and invalid arguments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1C3C3C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Structured output uses with_structured_output, not a hand-rolled parser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1C3C3C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Message history has an explicit trimming/summarisation strategy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1C3C3C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You can answer: 'why LangChain and not the raw SDK?' for THIS feature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Exit check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1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16.3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17 /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1C3C3C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Draw the package graph and say what you would pin, and to what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1C3C3C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Implement a BaseChatModel subclass; explain why .batch() works for free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1C3C3C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Diagnose a broken chain from a trace using the six failure modes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1C3C3C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Decide: LCEL, create_agent, or hand-written LangGraph -- with stated criteria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1C3C3C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Next: ../langgraph/ -- stateful, controllable agent orchestration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1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468880"/>
            <a:ext cx="100584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600"/>
              </a:spcAft>
            </a:pPr>
            <a:r>
              <a:rPr sz="4400" b="1" i="0">
                <a:solidFill>
                  <a:srgbClr val="1A1D29"/>
                </a:solidFill>
                <a:latin typeface="Calibri"/>
              </a:rPr>
              <a:t>Now go build.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6B7284"/>
                </a:solidFill>
                <a:latin typeface="Calibri"/>
              </a:rPr>
              <a:t>code/ — run it   ·   lab/EXERCISES.md — break it   ·   papers/ — go deeper</a:t>
            </a:r>
          </a:p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C3C3C"/>
                </a:solidFill>
                <a:latin typeface="Calibri"/>
              </a:rPr>
              <a:t>AI End-to-End Learning Track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